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9"/>
  </p:notesMasterIdLst>
  <p:sldIdLst>
    <p:sldId id="268" r:id="rId3"/>
    <p:sldId id="256" r:id="rId4"/>
    <p:sldId id="259" r:id="rId5"/>
    <p:sldId id="257" r:id="rId6"/>
    <p:sldId id="258" r:id="rId7"/>
    <p:sldId id="260" r:id="rId8"/>
    <p:sldId id="262" r:id="rId9"/>
    <p:sldId id="292" r:id="rId10"/>
    <p:sldId id="263" r:id="rId11"/>
    <p:sldId id="264" r:id="rId12"/>
    <p:sldId id="283" r:id="rId13"/>
    <p:sldId id="265" r:id="rId14"/>
    <p:sldId id="266" r:id="rId15"/>
    <p:sldId id="275" r:id="rId16"/>
    <p:sldId id="267" r:id="rId17"/>
    <p:sldId id="269" r:id="rId18"/>
    <p:sldId id="270" r:id="rId19"/>
    <p:sldId id="271" r:id="rId20"/>
    <p:sldId id="272" r:id="rId21"/>
    <p:sldId id="273" r:id="rId22"/>
    <p:sldId id="286" r:id="rId23"/>
    <p:sldId id="287" r:id="rId24"/>
    <p:sldId id="288" r:id="rId25"/>
    <p:sldId id="289" r:id="rId26"/>
    <p:sldId id="290" r:id="rId27"/>
    <p:sldId id="291" r:id="rId28"/>
    <p:sldId id="276" r:id="rId29"/>
    <p:sldId id="277" r:id="rId30"/>
    <p:sldId id="278" r:id="rId31"/>
    <p:sldId id="279" r:id="rId32"/>
    <p:sldId id="280" r:id="rId33"/>
    <p:sldId id="281" r:id="rId34"/>
    <p:sldId id="282" r:id="rId35"/>
    <p:sldId id="284" r:id="rId36"/>
    <p:sldId id="285" r:id="rId37"/>
    <p:sldId id="274" r:id="rId3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9202"/>
    <a:srgbClr val="5EEC3C"/>
    <a:srgbClr val="1D3A00"/>
    <a:srgbClr val="6C1A00"/>
    <a:srgbClr val="003296"/>
    <a:srgbClr val="E39A39"/>
    <a:srgbClr val="FFC901"/>
    <a:srgbClr val="FEA402"/>
    <a:srgbClr val="D68B1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9" d="100"/>
          <a:sy n="99" d="100"/>
        </p:scale>
        <p:origin x="922" y="58"/>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an M" userId="6da0968b97818ca3" providerId="LiveId" clId="{D1BD60C8-59E3-46BD-A764-51165573228B}"/>
    <pc:docChg chg="undo redo custSel mod addSld delSld modSld sldOrd">
      <pc:chgData name="Seran M" userId="6da0968b97818ca3" providerId="LiveId" clId="{D1BD60C8-59E3-46BD-A764-51165573228B}" dt="2026-03-10T05:58:13.987" v="266" actId="1440"/>
      <pc:docMkLst>
        <pc:docMk/>
      </pc:docMkLst>
      <pc:sldChg chg="modSp mod">
        <pc:chgData name="Seran M" userId="6da0968b97818ca3" providerId="LiveId" clId="{D1BD60C8-59E3-46BD-A764-51165573228B}" dt="2026-03-07T12:59:29.738" v="135" actId="403"/>
        <pc:sldMkLst>
          <pc:docMk/>
          <pc:sldMk cId="4103309497" sldId="257"/>
        </pc:sldMkLst>
        <pc:spChg chg="mod">
          <ac:chgData name="Seran M" userId="6da0968b97818ca3" providerId="LiveId" clId="{D1BD60C8-59E3-46BD-A764-51165573228B}" dt="2026-03-07T12:59:29.738" v="135" actId="403"/>
          <ac:spMkLst>
            <pc:docMk/>
            <pc:sldMk cId="4103309497" sldId="257"/>
            <ac:spMk id="2" creationId="{00000000-0000-0000-0000-000000000000}"/>
          </ac:spMkLst>
        </pc:spChg>
      </pc:sldChg>
      <pc:sldChg chg="modSp mod">
        <pc:chgData name="Seran M" userId="6da0968b97818ca3" providerId="LiveId" clId="{D1BD60C8-59E3-46BD-A764-51165573228B}" dt="2026-03-07T12:59:21.325" v="130" actId="1076"/>
        <pc:sldMkLst>
          <pc:docMk/>
          <pc:sldMk cId="4170783713" sldId="258"/>
        </pc:sldMkLst>
        <pc:spChg chg="mod">
          <ac:chgData name="Seran M" userId="6da0968b97818ca3" providerId="LiveId" clId="{D1BD60C8-59E3-46BD-A764-51165573228B}" dt="2026-03-07T12:59:21.325" v="130" actId="1076"/>
          <ac:spMkLst>
            <pc:docMk/>
            <pc:sldMk cId="4170783713" sldId="258"/>
            <ac:spMk id="4" creationId="{00000000-0000-0000-0000-000000000000}"/>
          </ac:spMkLst>
        </pc:spChg>
        <pc:spChg chg="mod">
          <ac:chgData name="Seran M" userId="6da0968b97818ca3" providerId="LiveId" clId="{D1BD60C8-59E3-46BD-A764-51165573228B}" dt="2026-03-07T12:50:45.790" v="40" actId="14838"/>
          <ac:spMkLst>
            <pc:docMk/>
            <pc:sldMk cId="4170783713" sldId="258"/>
            <ac:spMk id="6" creationId="{00000000-0000-0000-0000-000000000000}"/>
          </ac:spMkLst>
        </pc:spChg>
      </pc:sldChg>
      <pc:sldChg chg="modSp mod">
        <pc:chgData name="Seran M" userId="6da0968b97818ca3" providerId="LiveId" clId="{D1BD60C8-59E3-46BD-A764-51165573228B}" dt="2026-03-07T12:59:41.435" v="137" actId="20577"/>
        <pc:sldMkLst>
          <pc:docMk/>
          <pc:sldMk cId="109100692" sldId="260"/>
        </pc:sldMkLst>
        <pc:spChg chg="mod">
          <ac:chgData name="Seran M" userId="6da0968b97818ca3" providerId="LiveId" clId="{D1BD60C8-59E3-46BD-A764-51165573228B}" dt="2026-03-07T12:45:25.863" v="18" actId="207"/>
          <ac:spMkLst>
            <pc:docMk/>
            <pc:sldMk cId="109100692" sldId="260"/>
            <ac:spMk id="4" creationId="{E6E686AB-B36E-FE24-F259-F10360725C10}"/>
          </ac:spMkLst>
        </pc:spChg>
        <pc:spChg chg="mod">
          <ac:chgData name="Seran M" userId="6da0968b97818ca3" providerId="LiveId" clId="{D1BD60C8-59E3-46BD-A764-51165573228B}" dt="2026-03-07T12:59:41.435" v="137" actId="20577"/>
          <ac:spMkLst>
            <pc:docMk/>
            <pc:sldMk cId="109100692" sldId="260"/>
            <ac:spMk id="6" creationId="{C34E32E0-B92E-7EF2-31BD-AF27E2247995}"/>
          </ac:spMkLst>
        </pc:spChg>
      </pc:sldChg>
      <pc:sldChg chg="modSp mod">
        <pc:chgData name="Seran M" userId="6da0968b97818ca3" providerId="LiveId" clId="{D1BD60C8-59E3-46BD-A764-51165573228B}" dt="2026-03-07T13:00:19.623" v="142" actId="20577"/>
        <pc:sldMkLst>
          <pc:docMk/>
          <pc:sldMk cId="3042933482" sldId="261"/>
        </pc:sldMkLst>
        <pc:spChg chg="mod">
          <ac:chgData name="Seran M" userId="6da0968b97818ca3" providerId="LiveId" clId="{D1BD60C8-59E3-46BD-A764-51165573228B}" dt="2026-03-07T13:00:19.623" v="142" actId="20577"/>
          <ac:spMkLst>
            <pc:docMk/>
            <pc:sldMk cId="3042933482" sldId="261"/>
            <ac:spMk id="3" creationId="{20745EED-7EAD-3C78-988C-A25DCA720DA8}"/>
          </ac:spMkLst>
        </pc:spChg>
        <pc:spChg chg="mod">
          <ac:chgData name="Seran M" userId="6da0968b97818ca3" providerId="LiveId" clId="{D1BD60C8-59E3-46BD-A764-51165573228B}" dt="2026-03-07T12:58:42.016" v="112" actId="404"/>
          <ac:spMkLst>
            <pc:docMk/>
            <pc:sldMk cId="3042933482" sldId="261"/>
            <ac:spMk id="7" creationId="{86CBDF88-B978-0D11-744B-D2ED07528A61}"/>
          </ac:spMkLst>
        </pc:spChg>
      </pc:sldChg>
      <pc:sldChg chg="modSp mod ord">
        <pc:chgData name="Seran M" userId="6da0968b97818ca3" providerId="LiveId" clId="{D1BD60C8-59E3-46BD-A764-51165573228B}" dt="2026-03-07T12:59:02.199" v="123" actId="403"/>
        <pc:sldMkLst>
          <pc:docMk/>
          <pc:sldMk cId="2359857660" sldId="262"/>
        </pc:sldMkLst>
        <pc:spChg chg="mod">
          <ac:chgData name="Seran M" userId="6da0968b97818ca3" providerId="LiveId" clId="{D1BD60C8-59E3-46BD-A764-51165573228B}" dt="2026-03-07T12:59:02.199" v="123" actId="403"/>
          <ac:spMkLst>
            <pc:docMk/>
            <pc:sldMk cId="2359857660" sldId="262"/>
            <ac:spMk id="3" creationId="{749E1CED-5869-4E4E-7E14-FEDB72EA30CA}"/>
          </ac:spMkLst>
        </pc:spChg>
        <pc:spChg chg="mod">
          <ac:chgData name="Seran M" userId="6da0968b97818ca3" providerId="LiveId" clId="{D1BD60C8-59E3-46BD-A764-51165573228B}" dt="2026-03-07T12:54:18.668" v="47" actId="2711"/>
          <ac:spMkLst>
            <pc:docMk/>
            <pc:sldMk cId="2359857660" sldId="262"/>
            <ac:spMk id="5" creationId="{C624B14B-A2C6-79FE-3572-9E8D33DC8C43}"/>
          </ac:spMkLst>
        </pc:spChg>
      </pc:sldChg>
      <pc:sldChg chg="modSp mod">
        <pc:chgData name="Seran M" userId="6da0968b97818ca3" providerId="LiveId" clId="{D1BD60C8-59E3-46BD-A764-51165573228B}" dt="2026-03-07T13:00:29.061" v="144" actId="20577"/>
        <pc:sldMkLst>
          <pc:docMk/>
          <pc:sldMk cId="1916767663" sldId="263"/>
        </pc:sldMkLst>
        <pc:spChg chg="mod">
          <ac:chgData name="Seran M" userId="6da0968b97818ca3" providerId="LiveId" clId="{D1BD60C8-59E3-46BD-A764-51165573228B}" dt="2026-03-07T13:00:29.061" v="144" actId="20577"/>
          <ac:spMkLst>
            <pc:docMk/>
            <pc:sldMk cId="1916767663" sldId="263"/>
            <ac:spMk id="3" creationId="{D5DF0539-D1DF-DD1A-D845-E64E2F7CA289}"/>
          </ac:spMkLst>
        </pc:spChg>
      </pc:sldChg>
      <pc:sldChg chg="modSp mod">
        <pc:chgData name="Seran M" userId="6da0968b97818ca3" providerId="LiveId" clId="{D1BD60C8-59E3-46BD-A764-51165573228B}" dt="2026-03-07T13:00:34.758" v="146" actId="20577"/>
        <pc:sldMkLst>
          <pc:docMk/>
          <pc:sldMk cId="2342165789" sldId="264"/>
        </pc:sldMkLst>
        <pc:spChg chg="mod">
          <ac:chgData name="Seran M" userId="6da0968b97818ca3" providerId="LiveId" clId="{D1BD60C8-59E3-46BD-A764-51165573228B}" dt="2026-03-07T13:00:34.758" v="146" actId="20577"/>
          <ac:spMkLst>
            <pc:docMk/>
            <pc:sldMk cId="2342165789" sldId="264"/>
            <ac:spMk id="3" creationId="{9760AB57-2B6E-07D0-2DA4-A82F3F6D460C}"/>
          </ac:spMkLst>
        </pc:spChg>
      </pc:sldChg>
      <pc:sldChg chg="modSp mod">
        <pc:chgData name="Seran M" userId="6da0968b97818ca3" providerId="LiveId" clId="{D1BD60C8-59E3-46BD-A764-51165573228B}" dt="2026-03-07T13:00:40.298" v="148" actId="20577"/>
        <pc:sldMkLst>
          <pc:docMk/>
          <pc:sldMk cId="2054102973" sldId="265"/>
        </pc:sldMkLst>
        <pc:spChg chg="mod">
          <ac:chgData name="Seran M" userId="6da0968b97818ca3" providerId="LiveId" clId="{D1BD60C8-59E3-46BD-A764-51165573228B}" dt="2026-03-07T13:00:40.298" v="148" actId="20577"/>
          <ac:spMkLst>
            <pc:docMk/>
            <pc:sldMk cId="2054102973" sldId="265"/>
            <ac:spMk id="3" creationId="{84E09274-D72D-4A87-C923-BE1DAF0F710A}"/>
          </ac:spMkLst>
        </pc:spChg>
        <pc:spChg chg="mod">
          <ac:chgData name="Seran M" userId="6da0968b97818ca3" providerId="LiveId" clId="{D1BD60C8-59E3-46BD-A764-51165573228B}" dt="2026-03-07T12:58:08.494" v="96" actId="404"/>
          <ac:spMkLst>
            <pc:docMk/>
            <pc:sldMk cId="2054102973" sldId="265"/>
            <ac:spMk id="5" creationId="{8D4501F9-F744-F715-F5A6-E97A7E3D8695}"/>
          </ac:spMkLst>
        </pc:spChg>
      </pc:sldChg>
      <pc:sldChg chg="modSp mod">
        <pc:chgData name="Seran M" userId="6da0968b97818ca3" providerId="LiveId" clId="{D1BD60C8-59E3-46BD-A764-51165573228B}" dt="2026-03-07T12:58:12.727" v="97" actId="404"/>
        <pc:sldMkLst>
          <pc:docMk/>
          <pc:sldMk cId="1105292852" sldId="266"/>
        </pc:sldMkLst>
        <pc:spChg chg="mod">
          <ac:chgData name="Seran M" userId="6da0968b97818ca3" providerId="LiveId" clId="{D1BD60C8-59E3-46BD-A764-51165573228B}" dt="2026-03-07T12:58:12.727" v="97" actId="404"/>
          <ac:spMkLst>
            <pc:docMk/>
            <pc:sldMk cId="1105292852" sldId="266"/>
            <ac:spMk id="3" creationId="{687BE285-A2DE-135F-0D57-D63686EA274C}"/>
          </ac:spMkLst>
        </pc:spChg>
      </pc:sldChg>
      <pc:sldChg chg="addSp delSp modSp mod">
        <pc:chgData name="Seran M" userId="6da0968b97818ca3" providerId="LiveId" clId="{D1BD60C8-59E3-46BD-A764-51165573228B}" dt="2026-03-10T05:53:47.315" v="228" actId="20577"/>
        <pc:sldMkLst>
          <pc:docMk/>
          <pc:sldMk cId="984410561" sldId="267"/>
        </pc:sldMkLst>
        <pc:spChg chg="add mod">
          <ac:chgData name="Seran M" userId="6da0968b97818ca3" providerId="LiveId" clId="{D1BD60C8-59E3-46BD-A764-51165573228B}" dt="2026-03-10T05:53:47.315" v="228" actId="20577"/>
          <ac:spMkLst>
            <pc:docMk/>
            <pc:sldMk cId="984410561" sldId="267"/>
            <ac:spMk id="4" creationId="{61808398-3A71-49C7-6B85-4FB4A6F760AD}"/>
          </ac:spMkLst>
        </pc:spChg>
      </pc:sldChg>
      <pc:sldChg chg="addSp modSp new mod">
        <pc:chgData name="Seran M" userId="6da0968b97818ca3" providerId="LiveId" clId="{D1BD60C8-59E3-46BD-A764-51165573228B}" dt="2026-03-07T13:05:32.662" v="223" actId="12"/>
        <pc:sldMkLst>
          <pc:docMk/>
          <pc:sldMk cId="2452408160" sldId="269"/>
        </pc:sldMkLst>
        <pc:spChg chg="add mod">
          <ac:chgData name="Seran M" userId="6da0968b97818ca3" providerId="LiveId" clId="{D1BD60C8-59E3-46BD-A764-51165573228B}" dt="2026-03-07T13:04:57.684" v="216" actId="1076"/>
          <ac:spMkLst>
            <pc:docMk/>
            <pc:sldMk cId="2452408160" sldId="269"/>
            <ac:spMk id="3" creationId="{4023A01C-8A37-0FF4-376C-D4ED9E522905}"/>
          </ac:spMkLst>
        </pc:spChg>
        <pc:spChg chg="add mod">
          <ac:chgData name="Seran M" userId="6da0968b97818ca3" providerId="LiveId" clId="{D1BD60C8-59E3-46BD-A764-51165573228B}" dt="2026-03-07T13:05:00.507" v="217" actId="1076"/>
          <ac:spMkLst>
            <pc:docMk/>
            <pc:sldMk cId="2452408160" sldId="269"/>
            <ac:spMk id="5" creationId="{CB2EC912-127B-E67A-6B51-735F3912695A}"/>
          </ac:spMkLst>
        </pc:spChg>
        <pc:spChg chg="add mod">
          <ac:chgData name="Seran M" userId="6da0968b97818ca3" providerId="LiveId" clId="{D1BD60C8-59E3-46BD-A764-51165573228B}" dt="2026-03-07T13:05:32.662" v="223" actId="12"/>
          <ac:spMkLst>
            <pc:docMk/>
            <pc:sldMk cId="2452408160" sldId="269"/>
            <ac:spMk id="7" creationId="{039A938C-B4A0-3ACA-862A-BE88BAD33272}"/>
          </ac:spMkLst>
        </pc:spChg>
      </pc:sldChg>
      <pc:sldChg chg="addSp delSp modSp new add del mod">
        <pc:chgData name="Seran M" userId="6da0968b97818ca3" providerId="LiveId" clId="{D1BD60C8-59E3-46BD-A764-51165573228B}" dt="2026-03-10T05:58:13.987" v="266" actId="1440"/>
        <pc:sldMkLst>
          <pc:docMk/>
          <pc:sldMk cId="1862411904" sldId="275"/>
        </pc:sldMkLst>
        <pc:spChg chg="add del mod">
          <ac:chgData name="Seran M" userId="6da0968b97818ca3" providerId="LiveId" clId="{D1BD60C8-59E3-46BD-A764-51165573228B}" dt="2026-03-10T05:56:46.849" v="263" actId="20577"/>
          <ac:spMkLst>
            <pc:docMk/>
            <pc:sldMk cId="1862411904" sldId="275"/>
            <ac:spMk id="3" creationId="{975D89B1-DAD5-A162-A099-14F84FCD749F}"/>
          </ac:spMkLst>
        </pc:spChg>
        <pc:picChg chg="add mod">
          <ac:chgData name="Seran M" userId="6da0968b97818ca3" providerId="LiveId" clId="{D1BD60C8-59E3-46BD-A764-51165573228B}" dt="2026-03-10T05:58:13.987" v="266" actId="1440"/>
          <ac:picMkLst>
            <pc:docMk/>
            <pc:sldMk cId="1862411904" sldId="275"/>
            <ac:picMk id="5" creationId="{2CA3A281-638C-CDC3-0DC6-8AEC7687532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9D43B-8233-4A8B-88C6-39F2057FB943}"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7C148-2FAF-47FB-8A55-4D6A85248E4E}" type="slidenum">
              <a:rPr lang="en-US" smtClean="0"/>
              <a:t>‹#›</a:t>
            </a:fld>
            <a:endParaRPr lang="en-US"/>
          </a:p>
        </p:txBody>
      </p:sp>
    </p:spTree>
    <p:extLst>
      <p:ext uri="{BB962C8B-B14F-4D97-AF65-F5344CB8AC3E}">
        <p14:creationId xmlns:p14="http://schemas.microsoft.com/office/powerpoint/2010/main" val="3910684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google.com/url?q=http://www.free-power-point-templates.com/&amp;sa=D&amp;sntz=1&amp;usg=AFQjCNGWeCVdv2cRhI3dHtkzRMjt9Lq6Pw"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template is provided by </a:t>
            </a:r>
            <a:r>
              <a:rPr lang="en-US" sz="1200" b="0" i="0" kern="1200">
                <a:solidFill>
                  <a:schemeClr val="tx1"/>
                </a:solidFill>
                <a:effectLst/>
                <a:latin typeface="+mn-lt"/>
                <a:ea typeface="+mn-ea"/>
                <a:cs typeface="+mn-cs"/>
                <a:hlinkClick r:id="rId3"/>
              </a:rPr>
              <a:t>http://www.free-power-point-templates.com/</a:t>
            </a:r>
            <a:endParaRPr lang="en-US"/>
          </a:p>
        </p:txBody>
      </p:sp>
      <p:sp>
        <p:nvSpPr>
          <p:cNvPr id="4" name="Slide Number Placeholder 3"/>
          <p:cNvSpPr>
            <a:spLocks noGrp="1"/>
          </p:cNvSpPr>
          <p:nvPr>
            <p:ph type="sldNum" sz="quarter" idx="10"/>
          </p:nvPr>
        </p:nvSpPr>
        <p:spPr/>
        <p:txBody>
          <a:bodyPr/>
          <a:lstStyle/>
          <a:p>
            <a:fld id="{99C7C148-2FAF-47FB-8A55-4D6A85248E4E}" type="slidenum">
              <a:rPr lang="en-US" smtClean="0"/>
              <a:t>2</a:t>
            </a:fld>
            <a:endParaRPr lang="en-US"/>
          </a:p>
        </p:txBody>
      </p:sp>
    </p:spTree>
    <p:extLst>
      <p:ext uri="{BB962C8B-B14F-4D97-AF65-F5344CB8AC3E}">
        <p14:creationId xmlns:p14="http://schemas.microsoft.com/office/powerpoint/2010/main" val="1535185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7350B06-B074-48FC-8CFD-53D2CD8FB95F}" type="slidenum">
              <a:rPr lang="en-US" smtClean="0"/>
              <a:t>6</a:t>
            </a:fld>
            <a:endParaRPr lang="en-US"/>
          </a:p>
        </p:txBody>
      </p:sp>
    </p:spTree>
    <p:extLst>
      <p:ext uri="{BB962C8B-B14F-4D97-AF65-F5344CB8AC3E}">
        <p14:creationId xmlns:p14="http://schemas.microsoft.com/office/powerpoint/2010/main" val="2817295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8965" y="433880"/>
            <a:ext cx="8246070" cy="1374346"/>
          </a:xfrm>
          <a:noFill/>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48965" y="1808225"/>
            <a:ext cx="8093366" cy="610820"/>
          </a:xfrm>
        </p:spPr>
        <p:txBody>
          <a:bodyPr>
            <a:normAutofit/>
          </a:bodyPr>
          <a:lstStyle>
            <a:lvl1pPr marL="0" indent="0" algn="l">
              <a:buNone/>
              <a:defRPr sz="2800" b="0" i="0">
                <a:solidFill>
                  <a:srgbClr val="5EEC3C"/>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433881"/>
            <a:ext cx="8246070" cy="610820"/>
          </a:xfrm>
        </p:spPr>
        <p:txBody>
          <a:bodyPr>
            <a:normAutofit/>
          </a:bodyPr>
          <a:lstStyle>
            <a:lvl1pPr algn="l">
              <a:defRPr sz="3600" baseline="0">
                <a:solidFill>
                  <a:srgbClr val="5EEC3C"/>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044700"/>
            <a:ext cx="8246070" cy="3664921"/>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28720" y="281175"/>
            <a:ext cx="6108200" cy="572644"/>
          </a:xfrm>
        </p:spPr>
        <p:txBody>
          <a:bodyPr>
            <a:normAutofit/>
          </a:bodyPr>
          <a:lstStyle>
            <a:lvl1pPr algn="l">
              <a:defRPr sz="3600">
                <a:solidFill>
                  <a:srgbClr val="FE9202"/>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128720" y="1082877"/>
            <a:ext cx="6108200" cy="362558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8093365" cy="610820"/>
          </a:xfrm>
        </p:spPr>
        <p:txBody>
          <a:bodyPr>
            <a:normAutofit/>
          </a:bodyPr>
          <a:lstStyle>
            <a:lvl1pPr algn="l">
              <a:defRPr sz="3600" baseline="0">
                <a:solidFill>
                  <a:srgbClr val="5EEC3C"/>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80" y="1335828"/>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80" y="1808225"/>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1" y="1335828"/>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1" y="1808225"/>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48A1A1F5-1340-4A82-9CAA-63515920759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7412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651293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542157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074F12-AA26-4AC8-9962-C36BB8F32554}"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00623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9641282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074F12-AA26-4AC8-9962-C36BB8F32554}"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8812723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41384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6888782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11229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3074F12-AA26-4AC8-9962-C36BB8F32554}"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831285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1771700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590879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115403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38922926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8583070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051156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63E425EC-FCB3-6BC5-A5B4-85EE02C2CB0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020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6/11/2026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60A55BB3-5EFA-4194-B1AD-F5F1D57EAAC4}"/>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53074F12-AA26-4AC8-9962-C36BB8F32554}" type="datetimeFigureOut">
              <a:rPr lang="en-US" smtClean="0"/>
              <a:pPr/>
              <a:t>6/11/2026</a:t>
            </a:fld>
            <a:endParaRPr lang="en-US"/>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fld id="{B82CCC60-E8CD-4174-8B1A-7DF615B22EEF}" type="slidenum">
              <a:rPr lang="en-US" smtClean="0"/>
              <a:pPr/>
              <a:t>‹#›</a:t>
            </a:fld>
            <a:endParaRPr lang="en-US"/>
          </a:p>
        </p:txBody>
      </p:sp>
      <p:sp>
        <p:nvSpPr>
          <p:cNvPr id="13" name="TextBox 12">
            <a:extLst>
              <a:ext uri="{FF2B5EF4-FFF2-40B4-BE49-F238E27FC236}">
                <a16:creationId xmlns:a16="http://schemas.microsoft.com/office/drawing/2014/main" id="{E1CA72CF-DB2E-AB73-4B22-7AD15AF74E0E}"/>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4206216259"/>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9.xml"/><Relationship Id="rId4" Type="http://schemas.openxmlformats.org/officeDocument/2006/relationships/hyperlink" Target="http://www.srpce.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C16ABC5-372A-BD22-3E44-916E030D407C}"/>
              </a:ext>
            </a:extLst>
          </p:cNvPr>
          <p:cNvSpPr txBox="1"/>
          <p:nvPr/>
        </p:nvSpPr>
        <p:spPr>
          <a:xfrm>
            <a:off x="3426712" y="1419228"/>
            <a:ext cx="2290575" cy="369332"/>
          </a:xfrm>
          <a:prstGeom prst="rect">
            <a:avLst/>
          </a:prstGeom>
          <a:noFill/>
        </p:spPr>
        <p:txBody>
          <a:bodyPr wrap="square" rtlCol="0">
            <a:spAutoFit/>
          </a:bodyPr>
          <a:lstStyle/>
          <a:p>
            <a:r>
              <a:rPr lang="en-US" b="1" dirty="0">
                <a:ln w="0">
                  <a:solidFill>
                    <a:schemeClr val="tx2">
                      <a:lumMod val="60000"/>
                      <a:lumOff val="40000"/>
                    </a:schemeClr>
                  </a:solidFill>
                </a:ln>
                <a:effectLst>
                  <a:glow rad="101600">
                    <a:schemeClr val="accent1">
                      <a:satMod val="175000"/>
                      <a:alpha val="40000"/>
                    </a:schemeClr>
                  </a:glow>
                  <a:outerShdw blurRad="38100" dist="19050" dir="2700000" algn="tl" rotWithShape="0">
                    <a:schemeClr val="dk1">
                      <a:alpha val="40000"/>
                    </a:schemeClr>
                  </a:outerShdw>
                  <a:reflection blurRad="6350" stA="50000" endA="300" endPos="50000" dist="29997" dir="5400000" sy="-100000" algn="bl" rotWithShape="0"/>
                </a:effectLst>
                <a:latin typeface="Times New Roman" panose="02020603050405020304" pitchFamily="18" charset="0"/>
                <a:cs typeface="Times New Roman" panose="02020603050405020304" pitchFamily="18" charset="0"/>
              </a:rPr>
              <a:t>TEAM MEMBER’S</a:t>
            </a:r>
            <a:endParaRPr lang="en-IN" b="1" dirty="0">
              <a:ln w="0">
                <a:solidFill>
                  <a:schemeClr val="tx2">
                    <a:lumMod val="60000"/>
                    <a:lumOff val="40000"/>
                  </a:schemeClr>
                </a:solidFill>
              </a:ln>
              <a:effectLst>
                <a:glow rad="101600">
                  <a:schemeClr val="accent1">
                    <a:satMod val="175000"/>
                    <a:alpha val="40000"/>
                  </a:schemeClr>
                </a:glow>
                <a:outerShdw blurRad="38100" dist="19050" dir="2700000" algn="tl" rotWithShape="0">
                  <a:schemeClr val="dk1">
                    <a:alpha val="40000"/>
                  </a:schemeClr>
                </a:outerShdw>
                <a:reflection blurRad="6350" stA="50000" endA="300" endPos="50000" dist="29997" dir="5400000" sy="-100000" algn="bl" rotWithShape="0"/>
              </a:effectLst>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F09A98B1-E551-AB5C-69BE-30EC6609D652}"/>
              </a:ext>
            </a:extLst>
          </p:cNvPr>
          <p:cNvGraphicFramePr>
            <a:graphicFrameLocks noGrp="1"/>
          </p:cNvGraphicFramePr>
          <p:nvPr>
            <p:extLst>
              <p:ext uri="{D42A27DB-BD31-4B8C-83A1-F6EECF244321}">
                <p14:modId xmlns:p14="http://schemas.microsoft.com/office/powerpoint/2010/main" val="168863089"/>
              </p:ext>
            </p:extLst>
          </p:nvPr>
        </p:nvGraphicFramePr>
        <p:xfrm>
          <a:off x="1524000" y="1885134"/>
          <a:ext cx="6096000" cy="1854200"/>
        </p:xfrm>
        <a:graphic>
          <a:graphicData uri="http://schemas.openxmlformats.org/drawingml/2006/table">
            <a:tbl>
              <a:tblPr firstRow="1" bandRow="1">
                <a:tableStyleId>{5C22544A-7EE6-4342-B048-85BDC9FD1C3A}</a:tableStyleId>
              </a:tblPr>
              <a:tblGrid>
                <a:gridCol w="757426">
                  <a:extLst>
                    <a:ext uri="{9D8B030D-6E8A-4147-A177-3AD203B41FA5}">
                      <a16:colId xmlns:a16="http://schemas.microsoft.com/office/drawing/2014/main" val="4134254480"/>
                    </a:ext>
                  </a:extLst>
                </a:gridCol>
                <a:gridCol w="1985165">
                  <a:extLst>
                    <a:ext uri="{9D8B030D-6E8A-4147-A177-3AD203B41FA5}">
                      <a16:colId xmlns:a16="http://schemas.microsoft.com/office/drawing/2014/main" val="1211152548"/>
                    </a:ext>
                  </a:extLst>
                </a:gridCol>
                <a:gridCol w="1985165">
                  <a:extLst>
                    <a:ext uri="{9D8B030D-6E8A-4147-A177-3AD203B41FA5}">
                      <a16:colId xmlns:a16="http://schemas.microsoft.com/office/drawing/2014/main" val="1462261293"/>
                    </a:ext>
                  </a:extLst>
                </a:gridCol>
                <a:gridCol w="1368244">
                  <a:extLst>
                    <a:ext uri="{9D8B030D-6E8A-4147-A177-3AD203B41FA5}">
                      <a16:colId xmlns:a16="http://schemas.microsoft.com/office/drawing/2014/main" val="3601674886"/>
                    </a:ext>
                  </a:extLst>
                </a:gridCol>
              </a:tblGrid>
              <a:tr h="370840">
                <a:tc>
                  <a:txBody>
                    <a:bodyPr/>
                    <a:lstStyle/>
                    <a:p>
                      <a:pPr algn="ctr"/>
                      <a:r>
                        <a:rPr lang="en-US" sz="1300" dirty="0">
                          <a:latin typeface="Times New Roman" panose="02020603050405020304" pitchFamily="18" charset="0"/>
                          <a:cs typeface="Times New Roman" panose="02020603050405020304" pitchFamily="18" charset="0"/>
                        </a:rPr>
                        <a:t>S.NO</a:t>
                      </a:r>
                      <a:endParaRPr lang="en-IN" sz="1300" dirty="0">
                        <a:latin typeface="Times New Roman" panose="02020603050405020304" pitchFamily="18" charset="0"/>
                        <a:cs typeface="Times New Roman" panose="02020603050405020304" pitchFamily="18" charset="0"/>
                      </a:endParaRPr>
                    </a:p>
                  </a:txBody>
                  <a:tcPr/>
                </a:tc>
                <a:tc>
                  <a:txBody>
                    <a:bodyPr/>
                    <a:lstStyle/>
                    <a:p>
                      <a:pPr algn="ctr"/>
                      <a:r>
                        <a:rPr lang="en-US" sz="1300" dirty="0">
                          <a:latin typeface="Times New Roman" panose="02020603050405020304" pitchFamily="18" charset="0"/>
                          <a:cs typeface="Times New Roman" panose="02020603050405020304" pitchFamily="18" charset="0"/>
                        </a:rPr>
                        <a:t>NAME</a:t>
                      </a:r>
                      <a:endParaRPr lang="en-IN" sz="1300" dirty="0">
                        <a:latin typeface="Times New Roman" panose="02020603050405020304" pitchFamily="18" charset="0"/>
                        <a:cs typeface="Times New Roman" panose="02020603050405020304" pitchFamily="18" charset="0"/>
                      </a:endParaRPr>
                    </a:p>
                  </a:txBody>
                  <a:tcPr/>
                </a:tc>
                <a:tc>
                  <a:txBody>
                    <a:bodyPr/>
                    <a:lstStyle/>
                    <a:p>
                      <a:pPr algn="ctr"/>
                      <a:r>
                        <a:rPr lang="en-US" sz="1300" dirty="0">
                          <a:latin typeface="Times New Roman" panose="02020603050405020304" pitchFamily="18" charset="0"/>
                          <a:cs typeface="Times New Roman" panose="02020603050405020304" pitchFamily="18" charset="0"/>
                        </a:rPr>
                        <a:t>REGISTER NUMBER</a:t>
                      </a:r>
                      <a:endParaRPr lang="en-IN" sz="1300" dirty="0">
                        <a:latin typeface="Times New Roman" panose="02020603050405020304" pitchFamily="18" charset="0"/>
                        <a:cs typeface="Times New Roman" panose="02020603050405020304" pitchFamily="18" charset="0"/>
                      </a:endParaRPr>
                    </a:p>
                  </a:txBody>
                  <a:tcPr/>
                </a:tc>
                <a:tc>
                  <a:txBody>
                    <a:bodyPr/>
                    <a:lstStyle/>
                    <a:p>
                      <a:pPr algn="ctr"/>
                      <a:r>
                        <a:rPr lang="en-US" sz="1300" dirty="0">
                          <a:latin typeface="Times New Roman" panose="02020603050405020304" pitchFamily="18" charset="0"/>
                          <a:cs typeface="Times New Roman" panose="02020603050405020304" pitchFamily="18" charset="0"/>
                        </a:rPr>
                        <a:t>DEPARTMENT</a:t>
                      </a:r>
                      <a:endParaRPr lang="en-IN" sz="13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4648351"/>
                  </a:ext>
                </a:extLst>
              </a:tr>
              <a:tr h="370840">
                <a:tc>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SERAN.M</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422022104039</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CSE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9030688"/>
                  </a:ext>
                </a:extLst>
              </a:tr>
              <a:tr h="370840">
                <a:tc>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KAVIYA.V</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422022104017</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CSE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45595816"/>
                  </a:ext>
                </a:extLst>
              </a:tr>
              <a:tr h="370840">
                <a:tc>
                  <a:txBody>
                    <a:bodyPr/>
                    <a:lstStyle/>
                    <a:p>
                      <a:pPr algn="ctr"/>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PRAVINA.S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422022104304</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CSE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86320796"/>
                  </a:ext>
                </a:extLst>
              </a:tr>
              <a:tr h="370840">
                <a:tc>
                  <a:txBody>
                    <a:bodyPr/>
                    <a:lstStyle/>
                    <a:p>
                      <a:pPr algn="ctr"/>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MOHAN BABU.A</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422022104024</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CSE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69086063"/>
                  </a:ext>
                </a:extLst>
              </a:tr>
            </a:tbl>
          </a:graphicData>
        </a:graphic>
      </p:graphicFrame>
      <p:sp>
        <p:nvSpPr>
          <p:cNvPr id="10" name="TextBox 9">
            <a:extLst>
              <a:ext uri="{FF2B5EF4-FFF2-40B4-BE49-F238E27FC236}">
                <a16:creationId xmlns:a16="http://schemas.microsoft.com/office/drawing/2014/main" id="{D2DDD571-A23C-106A-B85E-9E49E1338410}"/>
              </a:ext>
            </a:extLst>
          </p:cNvPr>
          <p:cNvSpPr txBox="1"/>
          <p:nvPr/>
        </p:nvSpPr>
        <p:spPr>
          <a:xfrm>
            <a:off x="3426712" y="4037106"/>
            <a:ext cx="2290575" cy="523220"/>
          </a:xfrm>
          <a:prstGeom prst="rect">
            <a:avLst/>
          </a:prstGeom>
          <a:noFill/>
        </p:spPr>
        <p:txBody>
          <a:bodyPr wrap="square" rtlCol="0">
            <a:spAutoFit/>
          </a:bodyPr>
          <a:lstStyle/>
          <a:p>
            <a:pPr algn="ctr"/>
            <a:r>
              <a:rPr lang="en-US" sz="1400" b="1" dirty="0">
                <a:latin typeface="Times New Roman" panose="02020603050405020304" pitchFamily="18" charset="0"/>
                <a:cs typeface="Times New Roman" panose="02020603050405020304" pitchFamily="18" charset="0"/>
              </a:rPr>
              <a:t>HOD</a:t>
            </a:r>
          </a:p>
          <a:p>
            <a:pPr algn="ctr"/>
            <a:r>
              <a:rPr lang="en-US" sz="1400" b="1" dirty="0">
                <a:latin typeface="Times New Roman" panose="02020603050405020304" pitchFamily="18" charset="0"/>
                <a:cs typeface="Times New Roman" panose="02020603050405020304" pitchFamily="18" charset="0"/>
              </a:rPr>
              <a:t>Signature:</a:t>
            </a:r>
            <a:endParaRPr lang="en-IN" sz="1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5F2C44A0-3C70-CE0E-84A9-10CAAF2FD9D3}"/>
              </a:ext>
            </a:extLst>
          </p:cNvPr>
          <p:cNvSpPr txBox="1"/>
          <p:nvPr/>
        </p:nvSpPr>
        <p:spPr>
          <a:xfrm>
            <a:off x="6398360" y="4037106"/>
            <a:ext cx="2443280" cy="523220"/>
          </a:xfrm>
          <a:prstGeom prst="rect">
            <a:avLst/>
          </a:prstGeom>
          <a:noFill/>
        </p:spPr>
        <p:txBody>
          <a:bodyPr wrap="square">
            <a:spAutoFit/>
          </a:bodyPr>
          <a:lstStyle/>
          <a:p>
            <a:pPr algn="ctr"/>
            <a:r>
              <a:rPr lang="en-US" sz="1400" b="1" dirty="0" err="1">
                <a:latin typeface="Times New Roman" panose="02020603050405020304" pitchFamily="18" charset="0"/>
                <a:cs typeface="Times New Roman" panose="02020603050405020304" pitchFamily="18" charset="0"/>
              </a:rPr>
              <a:t>Principale</a:t>
            </a:r>
            <a:endParaRPr lang="en-US" sz="1400" b="1" dirty="0">
              <a:latin typeface="Times New Roman" panose="02020603050405020304" pitchFamily="18" charset="0"/>
              <a:cs typeface="Times New Roman" panose="02020603050405020304" pitchFamily="18" charset="0"/>
            </a:endParaRPr>
          </a:p>
          <a:p>
            <a:pPr algn="ctr"/>
            <a:r>
              <a:rPr lang="en-US" sz="1400" b="1" dirty="0">
                <a:latin typeface="Times New Roman" panose="02020603050405020304" pitchFamily="18" charset="0"/>
                <a:cs typeface="Times New Roman" panose="02020603050405020304" pitchFamily="18" charset="0"/>
              </a:rPr>
              <a:t>Signature:</a:t>
            </a:r>
            <a:endParaRPr lang="en-IN" sz="14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74012BF-4B30-AFC3-07D6-697C1D7316C0}"/>
              </a:ext>
            </a:extLst>
          </p:cNvPr>
          <p:cNvSpPr txBox="1"/>
          <p:nvPr/>
        </p:nvSpPr>
        <p:spPr>
          <a:xfrm>
            <a:off x="264183" y="4037106"/>
            <a:ext cx="2519633" cy="523220"/>
          </a:xfrm>
          <a:prstGeom prst="rect">
            <a:avLst/>
          </a:prstGeom>
          <a:noFill/>
        </p:spPr>
        <p:txBody>
          <a:bodyPr wrap="square">
            <a:spAutoFit/>
          </a:bodyPr>
          <a:lstStyle/>
          <a:p>
            <a:pPr algn="ctr"/>
            <a:r>
              <a:rPr lang="en-US" sz="1400" b="1" dirty="0">
                <a:latin typeface="Times New Roman" panose="02020603050405020304" pitchFamily="18" charset="0"/>
                <a:cs typeface="Times New Roman" panose="02020603050405020304" pitchFamily="18" charset="0"/>
              </a:rPr>
              <a:t>Guide</a:t>
            </a:r>
          </a:p>
          <a:p>
            <a:pPr algn="ctr"/>
            <a:r>
              <a:rPr lang="en-US" sz="1400" b="1" dirty="0">
                <a:latin typeface="Times New Roman" panose="02020603050405020304" pitchFamily="18" charset="0"/>
                <a:cs typeface="Times New Roman" panose="02020603050405020304" pitchFamily="18" charset="0"/>
              </a:rPr>
              <a:t>Signature:</a:t>
            </a:r>
            <a:endParaRPr lang="en-IN" sz="1400" b="1" dirty="0">
              <a:latin typeface="Times New Roman" panose="02020603050405020304" pitchFamily="18" charset="0"/>
              <a:cs typeface="Times New Roman" panose="02020603050405020304" pitchFamily="18" charset="0"/>
            </a:endParaRPr>
          </a:p>
        </p:txBody>
      </p:sp>
      <p:pic>
        <p:nvPicPr>
          <p:cNvPr id="2051" name="Picture 1">
            <a:extLst>
              <a:ext uri="{FF2B5EF4-FFF2-40B4-BE49-F238E27FC236}">
                <a16:creationId xmlns:a16="http://schemas.microsoft.com/office/drawing/2014/main" id="{D4B5A2C2-30CB-B625-4B30-AD8DBEED91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70314" y="112634"/>
            <a:ext cx="994881" cy="94023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0">
            <a:extLst>
              <a:ext uri="{FF2B5EF4-FFF2-40B4-BE49-F238E27FC236}">
                <a16:creationId xmlns:a16="http://schemas.microsoft.com/office/drawing/2014/main" id="{D320C5B5-9E67-3D3D-0B73-5B851E714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7778805" y="173843"/>
            <a:ext cx="1061386" cy="912265"/>
          </a:xfrm>
          <a:prstGeom prst="rect">
            <a:avLst/>
          </a:prstGeom>
          <a:noFill/>
          <a:extLst>
            <a:ext uri="{909E8E84-426E-40DD-AFC4-6F175D3DCCD1}">
              <a14:hiddenFill xmlns:a14="http://schemas.microsoft.com/office/drawing/2010/main">
                <a:solidFill>
                  <a:srgbClr val="FFFFFF"/>
                </a:solidFill>
              </a14:hiddenFill>
            </a:ext>
          </a:extLst>
        </p:spPr>
      </p:pic>
      <p:sp>
        <p:nvSpPr>
          <p:cNvPr id="15" name="AutoShape 1">
            <a:extLst>
              <a:ext uri="{FF2B5EF4-FFF2-40B4-BE49-F238E27FC236}">
                <a16:creationId xmlns:a16="http://schemas.microsoft.com/office/drawing/2014/main" id="{57BB12B1-4D8C-5CFF-33D6-6526D271DE53}"/>
              </a:ext>
            </a:extLst>
          </p:cNvPr>
          <p:cNvSpPr>
            <a:spLocks noChangeShapeType="1"/>
          </p:cNvSpPr>
          <p:nvPr/>
        </p:nvSpPr>
        <p:spPr bwMode="auto">
          <a:xfrm>
            <a:off x="0" y="1184418"/>
            <a:ext cx="9144000" cy="45719"/>
          </a:xfrm>
          <a:prstGeom prst="straightConnector1">
            <a:avLst/>
          </a:prstGeom>
          <a:noFill/>
          <a:ln w="38100">
            <a:solidFill>
              <a:srgbClr val="FF0000"/>
            </a:solidFill>
            <a:round/>
            <a:headEnd/>
            <a:tailEnd/>
          </a:ln>
          <a:effectLst>
            <a:outerShdw dist="35921" dir="2700000" algn="ctr" rotWithShape="0">
              <a:srgbClr val="974706">
                <a:alpha val="50000"/>
              </a:srgbClr>
            </a:outerShdw>
          </a:effectLst>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Rectangle 4">
            <a:extLst>
              <a:ext uri="{FF2B5EF4-FFF2-40B4-BE49-F238E27FC236}">
                <a16:creationId xmlns:a16="http://schemas.microsoft.com/office/drawing/2014/main" id="{3B04DDBC-3EE2-4EE5-7916-30912B7928BE}"/>
              </a:ext>
            </a:extLst>
          </p:cNvPr>
          <p:cNvSpPr>
            <a:spLocks noChangeArrowheads="1"/>
          </p:cNvSpPr>
          <p:nvPr/>
        </p:nvSpPr>
        <p:spPr bwMode="auto">
          <a:xfrm>
            <a:off x="1212490" y="-14167"/>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7" name="Rectangle 5">
            <a:extLst>
              <a:ext uri="{FF2B5EF4-FFF2-40B4-BE49-F238E27FC236}">
                <a16:creationId xmlns:a16="http://schemas.microsoft.com/office/drawing/2014/main" id="{E8DCE863-D443-E8E0-1CC1-D1448249F907}"/>
              </a:ext>
            </a:extLst>
          </p:cNvPr>
          <p:cNvSpPr>
            <a:spLocks noChangeArrowheads="1"/>
          </p:cNvSpPr>
          <p:nvPr/>
        </p:nvSpPr>
        <p:spPr bwMode="auto">
          <a:xfrm>
            <a:off x="1212490" y="34050"/>
            <a:ext cx="6252033"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600" b="1" i="0" u="none" strike="noStrike" cap="none" normalizeH="0" baseline="0" dirty="0">
                <a:ln>
                  <a:noFill/>
                </a:ln>
                <a:solidFill>
                  <a:srgbClr val="FF0000"/>
                </a:solidFill>
                <a:effectLst/>
                <a:latin typeface="Bookman Old Style" panose="02050604050505020204" pitchFamily="18" charset="0"/>
                <a:ea typeface="Calibri" panose="020F0502020204030204" pitchFamily="34" charset="0"/>
                <a:cs typeface="Times New Roman" panose="02020603050405020304" pitchFamily="18" charset="0"/>
              </a:rPr>
              <a:t>        SRI RANGAPOOPATHI COLLEGE OF ENGINEERING</a:t>
            </a:r>
            <a:endParaRPr kumimoji="0" lang="en-US" altLang="en-US" sz="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400" b="1" i="0" u="none" strike="noStrike" cap="none" normalizeH="0" baseline="0" dirty="0">
                <a:ln>
                  <a:noFill/>
                </a:ln>
                <a:solidFill>
                  <a:srgbClr val="00B050"/>
                </a:solidFill>
                <a:effectLst/>
                <a:latin typeface="Times New Roman" panose="02020603050405020304" pitchFamily="18" charset="0"/>
                <a:ea typeface="Calibri" panose="020F0502020204030204" pitchFamily="34" charset="0"/>
                <a:cs typeface="Times New Roman" panose="02020603050405020304" pitchFamily="18" charset="0"/>
              </a:rPr>
              <a:t>(An Autonomous Institution)</a:t>
            </a:r>
            <a:endParaRPr kumimoji="0" lang="en-US" altLang="en-US" sz="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(Approved by AICTE, New Delhi &amp; Affiliated to Anna University, Chennai)</a:t>
            </a:r>
            <a:endParaRPr kumimoji="0" lang="en-US" altLang="en-US" sz="6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Alampoondi</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Gingee</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(T.K), -604151.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VillupuramDt</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Tamilnadu</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India</a:t>
            </a: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endParaRPr lang="en-US" alt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endPar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2971800" algn="ctr"/>
                <a:tab pos="5943600" algn="r"/>
              </a:tabLst>
            </a:pP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971800" algn="ctr"/>
                <a:tab pos="5943600" algn="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6">
            <a:extLst>
              <a:ext uri="{FF2B5EF4-FFF2-40B4-BE49-F238E27FC236}">
                <a16:creationId xmlns:a16="http://schemas.microsoft.com/office/drawing/2014/main" id="{FFB00B1C-FA7A-2C6D-DA88-1B8E16A3FD60}"/>
              </a:ext>
            </a:extLst>
          </p:cNvPr>
          <p:cNvSpPr>
            <a:spLocks noChangeArrowheads="1"/>
          </p:cNvSpPr>
          <p:nvPr/>
        </p:nvSpPr>
        <p:spPr bwMode="auto">
          <a:xfrm>
            <a:off x="1365195" y="104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971800" algn="ctr"/>
                <a:tab pos="5943600" algn="r"/>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Website: </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www.srpce.in</a:t>
            </a:r>
            <a:r>
              <a:rPr kumimoji="0" lang="en-US" altLang="en-US" sz="1200" b="0" i="0" u="sng" strike="noStrike" cap="none" normalizeH="0" baseline="0" dirty="0">
                <a:ln>
                  <a:noFill/>
                </a:ln>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Phone.No:04145 231657</a:t>
            </a:r>
            <a:r>
              <a:rPr kumimoji="0" lang="en-US" altLang="en-US" sz="1200" b="0" i="0" u="sng" strike="noStrike" cap="none" normalizeH="0" baseline="0" dirty="0">
                <a:ln>
                  <a:noFill/>
                </a:ln>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200" b="0" i="0" u="none" strike="noStrike" cap="none" normalizeH="0" baseline="0" dirty="0">
                <a:ln>
                  <a:noFill/>
                </a:ln>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Email:srceprince2009@gmail.com.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0107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5380" y="987436"/>
            <a:ext cx="7940660" cy="1336168"/>
          </a:xfrm>
        </p:spPr>
        <p:txBody>
          <a:bodyPr>
            <a:noAutofit/>
          </a:bodyPr>
          <a:lstStyle/>
          <a:p>
            <a:pPr algn="ctr"/>
            <a:r>
              <a:rPr lang="en-IN" sz="2200" dirty="0">
                <a:effectLst>
                  <a:glow rad="228600">
                    <a:schemeClr val="accent3">
                      <a:satMod val="175000"/>
                      <a:alpha val="40000"/>
                    </a:schemeClr>
                  </a:glow>
                </a:effectLst>
                <a:latin typeface="Wide Latin" panose="020A0A07050505020404" pitchFamily="18" charset="0"/>
              </a:rPr>
              <a:t>Organ</a:t>
            </a:r>
            <a:r>
              <a:rPr lang="en-IN" sz="2200" spc="45" dirty="0">
                <a:effectLst>
                  <a:glow rad="228600">
                    <a:schemeClr val="accent3">
                      <a:satMod val="175000"/>
                      <a:alpha val="40000"/>
                    </a:schemeClr>
                  </a:glow>
                </a:effectLst>
                <a:latin typeface="Wide Latin" panose="020A0A07050505020404" pitchFamily="18" charset="0"/>
              </a:rPr>
              <a:t> </a:t>
            </a:r>
            <a:r>
              <a:rPr lang="en-IN" sz="2200" spc="50" dirty="0">
                <a:effectLst>
                  <a:glow rad="228600">
                    <a:schemeClr val="accent3">
                      <a:satMod val="175000"/>
                      <a:alpha val="40000"/>
                    </a:schemeClr>
                  </a:glow>
                </a:effectLst>
                <a:latin typeface="Wide Latin" panose="020A0A07050505020404" pitchFamily="18" charset="0"/>
              </a:rPr>
              <a:t>Donation</a:t>
            </a:r>
            <a:br>
              <a:rPr lang="en-IN" sz="2200" spc="50" dirty="0">
                <a:effectLst>
                  <a:glow rad="228600">
                    <a:schemeClr val="accent3">
                      <a:satMod val="175000"/>
                      <a:alpha val="40000"/>
                    </a:schemeClr>
                  </a:glow>
                </a:effectLst>
                <a:latin typeface="Wide Latin" panose="020A0A07050505020404" pitchFamily="18" charset="0"/>
              </a:rPr>
            </a:br>
            <a:r>
              <a:rPr lang="en-IN" sz="2200" spc="60" dirty="0">
                <a:effectLst>
                  <a:glow rad="228600">
                    <a:schemeClr val="accent3">
                      <a:satMod val="175000"/>
                      <a:alpha val="40000"/>
                    </a:schemeClr>
                  </a:glow>
                </a:effectLst>
                <a:latin typeface="Wide Latin" panose="020A0A07050505020404" pitchFamily="18" charset="0"/>
              </a:rPr>
              <a:t> </a:t>
            </a:r>
            <a:r>
              <a:rPr lang="en-IN" sz="2200" spc="140" dirty="0">
                <a:effectLst>
                  <a:glow rad="228600">
                    <a:schemeClr val="accent3">
                      <a:satMod val="175000"/>
                      <a:alpha val="40000"/>
                    </a:schemeClr>
                  </a:glow>
                </a:effectLst>
                <a:latin typeface="Wide Latin" panose="020A0A07050505020404" pitchFamily="18" charset="0"/>
              </a:rPr>
              <a:t>&amp;</a:t>
            </a:r>
            <a:br>
              <a:rPr lang="en-IN" sz="2200" spc="140" dirty="0">
                <a:effectLst>
                  <a:glow rad="228600">
                    <a:schemeClr val="accent3">
                      <a:satMod val="175000"/>
                      <a:alpha val="40000"/>
                    </a:schemeClr>
                  </a:glow>
                </a:effectLst>
                <a:latin typeface="Wide Latin" panose="020A0A07050505020404" pitchFamily="18" charset="0"/>
              </a:rPr>
            </a:br>
            <a:r>
              <a:rPr lang="en-IN" sz="2200" spc="50" dirty="0">
                <a:effectLst>
                  <a:glow rad="228600">
                    <a:schemeClr val="accent3">
                      <a:satMod val="175000"/>
                      <a:alpha val="40000"/>
                    </a:schemeClr>
                  </a:glow>
                </a:effectLst>
                <a:latin typeface="Wide Latin" panose="020A0A07050505020404" pitchFamily="18" charset="0"/>
              </a:rPr>
              <a:t> Hospital </a:t>
            </a:r>
            <a:r>
              <a:rPr lang="en-IN" sz="2200" spc="45" dirty="0">
                <a:effectLst>
                  <a:glow rad="228600">
                    <a:schemeClr val="accent3">
                      <a:satMod val="175000"/>
                      <a:alpha val="40000"/>
                    </a:schemeClr>
                  </a:glow>
                </a:effectLst>
                <a:latin typeface="Wide Latin" panose="020A0A07050505020404" pitchFamily="18" charset="0"/>
              </a:rPr>
              <a:t>Coordination</a:t>
            </a:r>
            <a:r>
              <a:rPr lang="en-IN" sz="2200" spc="55" dirty="0">
                <a:effectLst>
                  <a:glow rad="228600">
                    <a:schemeClr val="accent3">
                      <a:satMod val="175000"/>
                      <a:alpha val="40000"/>
                    </a:schemeClr>
                  </a:glow>
                </a:effectLst>
                <a:latin typeface="Wide Latin" panose="020A0A07050505020404" pitchFamily="18" charset="0"/>
              </a:rPr>
              <a:t> </a:t>
            </a:r>
            <a:br>
              <a:rPr lang="en-IN" sz="2200" spc="55" dirty="0">
                <a:effectLst>
                  <a:glow rad="228600">
                    <a:schemeClr val="accent3">
                      <a:satMod val="175000"/>
                      <a:alpha val="40000"/>
                    </a:schemeClr>
                  </a:glow>
                </a:effectLst>
                <a:latin typeface="Wide Latin" panose="020A0A07050505020404" pitchFamily="18" charset="0"/>
              </a:rPr>
            </a:br>
            <a:r>
              <a:rPr lang="en-IN" sz="2200" spc="130" dirty="0">
                <a:effectLst>
                  <a:glow rad="228600">
                    <a:schemeClr val="accent3">
                      <a:satMod val="175000"/>
                      <a:alpha val="40000"/>
                    </a:schemeClr>
                  </a:glow>
                </a:effectLst>
                <a:latin typeface="Wide Latin" panose="020A0A07050505020404" pitchFamily="18" charset="0"/>
              </a:rPr>
              <a:t>Web</a:t>
            </a:r>
            <a:r>
              <a:rPr lang="en-IN" sz="2200" spc="45" dirty="0">
                <a:effectLst>
                  <a:glow rad="228600">
                    <a:schemeClr val="accent3">
                      <a:satMod val="175000"/>
                      <a:alpha val="40000"/>
                    </a:schemeClr>
                  </a:glow>
                </a:effectLst>
                <a:latin typeface="Wide Latin" panose="020A0A07050505020404" pitchFamily="18" charset="0"/>
              </a:rPr>
              <a:t> </a:t>
            </a:r>
            <a:r>
              <a:rPr lang="en-IN" sz="2200" spc="95" dirty="0">
                <a:effectLst>
                  <a:glow rad="228600">
                    <a:schemeClr val="accent3">
                      <a:satMod val="175000"/>
                      <a:alpha val="40000"/>
                    </a:schemeClr>
                  </a:glow>
                </a:effectLst>
                <a:latin typeface="Wide Latin" panose="020A0A07050505020404" pitchFamily="18" charset="0"/>
              </a:rPr>
              <a:t>Platform</a:t>
            </a:r>
            <a:endParaRPr lang="en-US" sz="2200" dirty="0">
              <a:effectLst>
                <a:glow rad="228600">
                  <a:schemeClr val="accent3">
                    <a:satMod val="175000"/>
                    <a:alpha val="40000"/>
                  </a:schemeClr>
                </a:glow>
              </a:effectLst>
              <a:latin typeface="Wide Latin" panose="020A0A07050505020404" pitchFamily="18" charset="0"/>
            </a:endParaRPr>
          </a:p>
        </p:txBody>
      </p:sp>
      <p:sp>
        <p:nvSpPr>
          <p:cNvPr id="6" name="TextBox 5">
            <a:extLst>
              <a:ext uri="{FF2B5EF4-FFF2-40B4-BE49-F238E27FC236}">
                <a16:creationId xmlns:a16="http://schemas.microsoft.com/office/drawing/2014/main" id="{2E7B7A10-CC74-0041-20CA-6CA90916DB94}"/>
              </a:ext>
            </a:extLst>
          </p:cNvPr>
          <p:cNvSpPr txBox="1"/>
          <p:nvPr/>
        </p:nvSpPr>
        <p:spPr>
          <a:xfrm>
            <a:off x="6404459" y="3487980"/>
            <a:ext cx="1985165" cy="400110"/>
          </a:xfrm>
          <a:prstGeom prst="rect">
            <a:avLst/>
          </a:prstGeom>
          <a:noFill/>
        </p:spPr>
        <p:txBody>
          <a:bodyPr wrap="square" rtlCol="0">
            <a:spAutoFit/>
          </a:bodyPr>
          <a:lstStyle/>
          <a:p>
            <a:r>
              <a:rPr lang="en-US" sz="2000" dirty="0">
                <a:solidFill>
                  <a:schemeClr val="bg1"/>
                </a:solidFill>
                <a:effectLst>
                  <a:glow rad="228600">
                    <a:schemeClr val="accent5">
                      <a:satMod val="175000"/>
                      <a:alpha val="40000"/>
                    </a:schemeClr>
                  </a:glow>
                  <a:reflection blurRad="6350" stA="55000" endA="50" endPos="85000" dist="29997" dir="5400000" sy="-100000" algn="bl" rotWithShape="0"/>
                </a:effectLst>
                <a:latin typeface="Magneto" panose="04030805050802020D02" pitchFamily="82" charset="0"/>
              </a:rPr>
              <a:t>Life Share</a:t>
            </a:r>
            <a:endParaRPr lang="en-IN" sz="2000" dirty="0">
              <a:solidFill>
                <a:schemeClr val="bg1"/>
              </a:solidFill>
              <a:effectLst>
                <a:glow rad="228600">
                  <a:schemeClr val="accent5">
                    <a:satMod val="175000"/>
                    <a:alpha val="40000"/>
                  </a:schemeClr>
                </a:glow>
                <a:reflection blurRad="6350" stA="55000" endA="50" endPos="85000" dist="29997" dir="5400000" sy="-100000" algn="bl" rotWithShape="0"/>
              </a:effectLst>
              <a:latin typeface="Magneto" panose="04030805050802020D02" pitchFamily="82" charset="0"/>
            </a:endParaRPr>
          </a:p>
        </p:txBody>
      </p:sp>
    </p:spTree>
    <p:extLst>
      <p:ext uri="{BB962C8B-B14F-4D97-AF65-F5344CB8AC3E}">
        <p14:creationId xmlns:p14="http://schemas.microsoft.com/office/powerpoint/2010/main" val="36392037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81425" y="758955"/>
            <a:ext cx="6108200" cy="3625589"/>
          </a:xfrm>
        </p:spPr>
        <p:txBody>
          <a:bodyPr>
            <a:normAutofit/>
          </a:bodyPr>
          <a:lstStyle/>
          <a:p>
            <a:pPr marL="0" indent="0">
              <a:spcBef>
                <a:spcPts val="938"/>
              </a:spcBef>
              <a:buNone/>
            </a:pPr>
            <a:r>
              <a:rPr lang="en-US" altLang="en-US" sz="1600" b="1" dirty="0">
                <a:solidFill>
                  <a:srgbClr val="000000"/>
                </a:solidFill>
                <a:latin typeface="Times New Roman" panose="02020603050405020304" pitchFamily="18" charset="0"/>
                <a:cs typeface="Times New Roman" panose="02020603050405020304" pitchFamily="18" charset="0"/>
              </a:rPr>
              <a:t>Project Title:</a:t>
            </a:r>
            <a:endParaRPr lang="en-US" altLang="en-US" sz="1600" dirty="0">
              <a:solidFill>
                <a:srgbClr val="000000"/>
              </a:solidFill>
              <a:latin typeface="Times New Roman" panose="02020603050405020304" pitchFamily="18" charset="0"/>
              <a:cs typeface="Times New Roman" panose="02020603050405020304" pitchFamily="18" charset="0"/>
            </a:endParaRPr>
          </a:p>
          <a:p>
            <a:pPr lvl="1">
              <a:spcBef>
                <a:spcPts val="838"/>
              </a:spcBef>
              <a:buFont typeface="Arial" panose="020B0604020202020204" pitchFamily="34" charset="0"/>
              <a:buChar char="•"/>
            </a:pPr>
            <a:r>
              <a:rPr lang="en-US" altLang="en-US" sz="1400" b="1" dirty="0">
                <a:solidFill>
                  <a:srgbClr val="000000"/>
                </a:solidFill>
                <a:latin typeface="Times New Roman" panose="02020603050405020304" pitchFamily="18" charset="0"/>
                <a:cs typeface="Times New Roman" panose="02020603050405020304" pitchFamily="18" charset="0"/>
              </a:rPr>
              <a:t>Organ Donation &amp; Hospital Coordination Web Platform</a:t>
            </a:r>
          </a:p>
          <a:p>
            <a:pPr lvl="1">
              <a:spcBef>
                <a:spcPts val="838"/>
              </a:spcBef>
              <a:buFont typeface="Arial" panose="020B0604020202020204" pitchFamily="34" charset="0"/>
              <a:buChar char="•"/>
            </a:pPr>
            <a:r>
              <a:rPr lang="en-US" altLang="en-US" sz="1200" dirty="0">
                <a:solidFill>
                  <a:srgbClr val="000000"/>
                </a:solidFill>
                <a:latin typeface="Times New Roman" panose="02020603050405020304" pitchFamily="18" charset="0"/>
                <a:cs typeface="Times New Roman" panose="02020603050405020304" pitchFamily="18" charset="0"/>
              </a:rPr>
              <a:t>A Secure Full Stack-Based Web Application for Organ Request and Hospital Coordination.</a:t>
            </a:r>
          </a:p>
          <a:p>
            <a:pPr lvl="1">
              <a:spcBef>
                <a:spcPts val="838"/>
              </a:spcBef>
              <a:buFont typeface="Arial" panose="020B0604020202020204" pitchFamily="34" charset="0"/>
              <a:buChar char="•"/>
            </a:pPr>
            <a:r>
              <a:rPr lang="en-US" altLang="en-US" sz="1400" b="1" dirty="0">
                <a:solidFill>
                  <a:srgbClr val="000000"/>
                </a:solidFill>
                <a:latin typeface="Times New Roman" panose="02020603050405020304" pitchFamily="18" charset="0"/>
                <a:cs typeface="Times New Roman" panose="02020603050405020304" pitchFamily="18" charset="0"/>
              </a:rPr>
              <a:t>Domain</a:t>
            </a:r>
            <a:r>
              <a:rPr lang="en-US" altLang="en-US" sz="1800" b="1" dirty="0">
                <a:solidFill>
                  <a:srgbClr val="000000"/>
                </a:solidFill>
                <a:latin typeface="Times New Roman" panose="02020603050405020304" pitchFamily="18" charset="0"/>
                <a:cs typeface="Times New Roman" panose="02020603050405020304" pitchFamily="18" charset="0"/>
              </a:rPr>
              <a:t>: </a:t>
            </a:r>
            <a:r>
              <a:rPr lang="en-US" altLang="en-US" sz="1200" dirty="0">
                <a:solidFill>
                  <a:srgbClr val="000000"/>
                </a:solidFill>
                <a:latin typeface="Times New Roman" panose="02020603050405020304" pitchFamily="18" charset="0"/>
                <a:cs typeface="Times New Roman" panose="02020603050405020304" pitchFamily="18" charset="0"/>
              </a:rPr>
              <a:t>Full Stack Web Development</a:t>
            </a:r>
            <a:endParaRPr lang="en-US" altLang="en-US" sz="1400" dirty="0">
              <a:solidFill>
                <a:srgbClr val="000000"/>
              </a:solidFill>
              <a:latin typeface="Times New Roman" panose="02020603050405020304" pitchFamily="18" charset="0"/>
              <a:cs typeface="Times New Roman" panose="02020603050405020304" pitchFamily="18" charset="0"/>
            </a:endParaRPr>
          </a:p>
          <a:p>
            <a:pPr lvl="1">
              <a:spcBef>
                <a:spcPts val="838"/>
              </a:spcBef>
              <a:buFont typeface="Arial" panose="020B0604020202020204" pitchFamily="34" charset="0"/>
              <a:buChar char="•"/>
            </a:pPr>
            <a:r>
              <a:rPr lang="en-US" altLang="en-US" sz="1400" b="1" dirty="0">
                <a:solidFill>
                  <a:srgbClr val="000000"/>
                </a:solidFill>
                <a:latin typeface="Times New Roman" panose="02020603050405020304" pitchFamily="18" charset="0"/>
                <a:cs typeface="Times New Roman" panose="02020603050405020304" pitchFamily="18" charset="0"/>
              </a:rPr>
              <a:t>Technology Stack:</a:t>
            </a:r>
            <a:r>
              <a:rPr lang="en-US" altLang="en-US" sz="1800" b="1" dirty="0">
                <a:solidFill>
                  <a:srgbClr val="000000"/>
                </a:solidFill>
                <a:latin typeface="Times New Roman" panose="02020603050405020304" pitchFamily="18" charset="0"/>
                <a:cs typeface="Times New Roman" panose="02020603050405020304" pitchFamily="18" charset="0"/>
              </a:rPr>
              <a:t> </a:t>
            </a:r>
            <a:r>
              <a:rPr lang="en-US" altLang="en-US" sz="1200" dirty="0">
                <a:solidFill>
                  <a:srgbClr val="000000"/>
                </a:solidFill>
                <a:latin typeface="Times New Roman" panose="02020603050405020304" pitchFamily="18" charset="0"/>
                <a:cs typeface="Times New Roman" panose="02020603050405020304" pitchFamily="18" charset="0"/>
              </a:rPr>
              <a:t>HTML, CSS, Java Script, Python, React JS, MySQL.</a:t>
            </a:r>
            <a:endParaRPr lang="en-US" altLang="en-US" sz="1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1633878"/>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4" y="281175"/>
            <a:ext cx="8246070" cy="610820"/>
          </a:xfrm>
        </p:spPr>
        <p:txBody>
          <a:bodyPr>
            <a:normAutofit/>
          </a:bodyPr>
          <a:lstStyle/>
          <a:p>
            <a:r>
              <a:rPr lang="en-US" altLang="en-US" sz="1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01670" y="739289"/>
            <a:ext cx="8093364" cy="3664921"/>
          </a:xfrm>
        </p:spPr>
        <p:txBody>
          <a:bodyPr>
            <a:normAutofit/>
          </a:bodyPr>
          <a:lstStyle/>
          <a:p>
            <a:pPr algn="just">
              <a:lnSpc>
                <a:spcPct val="150000"/>
              </a:lnSpc>
              <a:spcBef>
                <a:spcPts val="800"/>
              </a:spcBef>
            </a:pPr>
            <a:r>
              <a:rPr lang="en-US" alt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The Organ Donation &amp; Hospital Coordination Web Platform is a secure, web-based healthcare management system developed using the Full stack (Python, React JS, MySQL, Java Script). The system aims to create a centralized platform that connects patients, organ donors, and hospitals for efficient coordination and real-time communication.</a:t>
            </a:r>
          </a:p>
          <a:p>
            <a:pPr algn="just">
              <a:lnSpc>
                <a:spcPct val="150000"/>
              </a:lnSpc>
              <a:spcBef>
                <a:spcPts val="813"/>
              </a:spcBef>
            </a:pPr>
            <a:r>
              <a:rPr lang="en-US" alt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Patients can register and submit organ requests. Registered donors can view and respond to requests. Hospitals can manage organ availability, update emergency alerts, and track organ transfer status. The system ensures transparency, faster communication, and reduced organ wastage.</a:t>
            </a:r>
          </a:p>
          <a:p>
            <a:pPr algn="just">
              <a:lnSpc>
                <a:spcPct val="150000"/>
              </a:lnSpc>
              <a:spcBef>
                <a:spcPts val="800"/>
              </a:spcBef>
            </a:pPr>
            <a:r>
              <a:rPr lang="en-US" alt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The platform includes secure authentication, real-time organ tracking, emergency notification broadcasting, hospital directory access across India, and an integrated chat system for clarifications regarding organ donation procedures.</a:t>
            </a:r>
          </a:p>
          <a:p>
            <a:pPr algn="just">
              <a:lnSpc>
                <a:spcPct val="150000"/>
              </a:lnSpc>
              <a:spcBef>
                <a:spcPts val="850"/>
              </a:spcBef>
            </a:pPr>
            <a:r>
              <a:rPr lang="en-US" alt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This digital solution enhances coordination efficiency and contributes to saving lives through modern web technologies.</a:t>
            </a:r>
          </a:p>
        </p:txBody>
      </p:sp>
    </p:spTree>
    <p:extLst>
      <p:ext uri="{BB962C8B-B14F-4D97-AF65-F5344CB8AC3E}">
        <p14:creationId xmlns:p14="http://schemas.microsoft.com/office/powerpoint/2010/main" val="410330949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1670" y="586585"/>
            <a:ext cx="8093365" cy="610820"/>
          </a:xfrm>
          <a:noFill/>
        </p:spPr>
        <p:txBody>
          <a:bodyPr>
            <a:normAutofit/>
          </a:bodyPr>
          <a:lstStyle/>
          <a:p>
            <a:pPr marL="12700">
              <a:spcBef>
                <a:spcPts val="100"/>
              </a:spcBef>
              <a:tabLst>
                <a:tab pos="165100" algn="l"/>
              </a:tabLst>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Existing System:</a:t>
            </a:r>
          </a:p>
        </p:txBody>
      </p:sp>
      <p:sp>
        <p:nvSpPr>
          <p:cNvPr id="6" name="Content Placeholder 5"/>
          <p:cNvSpPr>
            <a:spLocks noGrp="1"/>
          </p:cNvSpPr>
          <p:nvPr>
            <p:ph sz="half" idx="2"/>
          </p:nvPr>
        </p:nvSpPr>
        <p:spPr>
          <a:xfrm>
            <a:off x="994995" y="1034956"/>
            <a:ext cx="7547335" cy="2758433"/>
          </a:xfrm>
        </p:spPr>
        <p:txBody>
          <a:bodyPr>
            <a:noAutofit/>
          </a:bodyPr>
          <a:lstStyle/>
          <a:p>
            <a:pPr marL="0" indent="0" algn="l">
              <a:spcBef>
                <a:spcPts val="855"/>
              </a:spcBef>
              <a:buNone/>
              <a:defRPr/>
            </a:pPr>
            <a:r>
              <a:rPr lang="en-US" sz="1400" kern="0" dirty="0">
                <a:effectLst>
                  <a:glow rad="101600">
                    <a:schemeClr val="accent6">
                      <a:satMod val="175000"/>
                      <a:alpha val="40000"/>
                    </a:schemeClr>
                  </a:glow>
                </a:effectLst>
                <a:latin typeface="Times New Roman"/>
                <a:cs typeface="Times New Roman"/>
              </a:rPr>
              <a:t>The</a:t>
            </a:r>
            <a:r>
              <a:rPr lang="en-US" sz="1400" kern="0" spc="-30"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current</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organ</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donation</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coordination</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system</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is</a:t>
            </a:r>
            <a:r>
              <a:rPr lang="en-US" sz="1400" kern="0" spc="-1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mostly</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manual</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or</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semi-digital</a:t>
            </a:r>
            <a:r>
              <a:rPr lang="en-US" sz="1400" kern="0" spc="-5" dirty="0">
                <a:effectLst>
                  <a:glow rad="101600">
                    <a:schemeClr val="accent6">
                      <a:satMod val="175000"/>
                      <a:alpha val="40000"/>
                    </a:schemeClr>
                  </a:glow>
                </a:effectLst>
                <a:latin typeface="Times New Roman"/>
                <a:cs typeface="Times New Roman"/>
              </a:rPr>
              <a:t> </a:t>
            </a:r>
            <a:r>
              <a:rPr lang="en-US" sz="1400" kern="0" dirty="0">
                <a:effectLst>
                  <a:glow rad="101600">
                    <a:schemeClr val="accent6">
                      <a:satMod val="175000"/>
                      <a:alpha val="40000"/>
                    </a:schemeClr>
                  </a:glow>
                </a:effectLst>
                <a:latin typeface="Times New Roman"/>
                <a:cs typeface="Times New Roman"/>
              </a:rPr>
              <a:t>and</a:t>
            </a:r>
            <a:r>
              <a:rPr lang="en-US" sz="1400" kern="0" spc="-5" dirty="0">
                <a:effectLst>
                  <a:glow rad="101600">
                    <a:schemeClr val="accent6">
                      <a:satMod val="175000"/>
                      <a:alpha val="40000"/>
                    </a:schemeClr>
                  </a:glow>
                </a:effectLst>
                <a:latin typeface="Times New Roman"/>
                <a:cs typeface="Times New Roman"/>
              </a:rPr>
              <a:t> </a:t>
            </a:r>
            <a:r>
              <a:rPr lang="en-US" sz="1400" kern="0" spc="-10" dirty="0">
                <a:effectLst>
                  <a:glow rad="101600">
                    <a:schemeClr val="accent6">
                      <a:satMod val="175000"/>
                      <a:alpha val="40000"/>
                    </a:schemeClr>
                  </a:glow>
                </a:effectLst>
                <a:latin typeface="Times New Roman"/>
                <a:cs typeface="Times New Roman"/>
              </a:rPr>
              <a:t>involves:</a:t>
            </a:r>
            <a:endParaRPr lang="en-US" sz="1400" kern="0" dirty="0">
              <a:effectLst>
                <a:glow rad="101600">
                  <a:schemeClr val="accent6">
                    <a:satMod val="175000"/>
                    <a:alpha val="40000"/>
                  </a:schemeClr>
                </a:glow>
              </a:effectLst>
              <a:latin typeface="Times New Roman"/>
              <a:cs typeface="Times New Roman"/>
            </a:endParaRPr>
          </a:p>
          <a:p>
            <a:pPr marL="469900" lvl="1" indent="-229235" algn="l">
              <a:lnSpc>
                <a:spcPct val="150000"/>
              </a:lnSpc>
              <a:spcBef>
                <a:spcPts val="850"/>
              </a:spcBef>
              <a:buSzPct val="83333"/>
              <a:buFont typeface="Symbol"/>
              <a:buChar char=""/>
              <a:tabLst>
                <a:tab pos="469900" algn="l"/>
                <a:tab pos="470534" algn="l"/>
              </a:tabLst>
              <a:defRPr/>
            </a:pP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Organ donor information is often maintained </a:t>
            </a:r>
            <a:r>
              <a:rPr lang="en-US" sz="1200" b="1"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manually or in separate hospital databases</a:t>
            </a: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a:t>
            </a:r>
          </a:p>
          <a:p>
            <a:pPr marL="469900" lvl="1" indent="-229235" algn="l">
              <a:lnSpc>
                <a:spcPct val="150000"/>
              </a:lnSpc>
              <a:spcBef>
                <a:spcPts val="850"/>
              </a:spcBef>
              <a:buSzPct val="83333"/>
              <a:buFont typeface="Symbol"/>
              <a:buChar char=""/>
              <a:tabLst>
                <a:tab pos="469900" algn="l"/>
                <a:tab pos="470534" algn="l"/>
              </a:tabLst>
              <a:defRPr/>
            </a:pP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Lack of a </a:t>
            </a:r>
            <a:r>
              <a:rPr lang="en-US" sz="1200" b="1"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centralized platform</a:t>
            </a: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 to connect donors and recipients.</a:t>
            </a:r>
          </a:p>
          <a:p>
            <a:pPr marL="469900" lvl="1" indent="-229235" algn="l">
              <a:lnSpc>
                <a:spcPct val="150000"/>
              </a:lnSpc>
              <a:spcBef>
                <a:spcPts val="850"/>
              </a:spcBef>
              <a:buSzPct val="83333"/>
              <a:buFont typeface="Symbol"/>
              <a:buChar char=""/>
              <a:tabLst>
                <a:tab pos="469900" algn="l"/>
                <a:tab pos="470534" algn="l"/>
              </a:tabLst>
              <a:defRPr/>
            </a:pP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Communication between </a:t>
            </a:r>
            <a:r>
              <a:rPr lang="en-US" sz="1200" b="1"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hospitals, donors, and patients is inefficient</a:t>
            </a: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a:t>
            </a:r>
          </a:p>
          <a:p>
            <a:pPr marL="469900" lvl="1" indent="-229235" algn="l">
              <a:lnSpc>
                <a:spcPct val="150000"/>
              </a:lnSpc>
              <a:spcBef>
                <a:spcPts val="850"/>
              </a:spcBef>
              <a:buSzPct val="83333"/>
              <a:buFont typeface="Symbol"/>
              <a:buChar char=""/>
              <a:tabLst>
                <a:tab pos="469900" algn="l"/>
                <a:tab pos="470534" algn="l"/>
              </a:tabLst>
              <a:defRPr/>
            </a:pP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Data management may lead to </a:t>
            </a:r>
            <a:r>
              <a:rPr lang="en-US" sz="1200" b="1"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errors, delays, and lack of transparency</a:t>
            </a:r>
            <a:r>
              <a:rPr lang="en-US" sz="120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rPr>
              <a:t>.</a:t>
            </a:r>
            <a:endParaRPr lang="en-US" sz="1200" kern="0" spc="-10" dirty="0">
              <a:effectLst>
                <a:glow rad="101600">
                  <a:schemeClr val="accent6">
                    <a:satMod val="175000"/>
                    <a:alpha val="40000"/>
                  </a:schemeClr>
                </a:glow>
              </a:effectLst>
              <a:latin typeface="Times New Roman" panose="02020603050405020304" pitchFamily="18" charset="0"/>
              <a:cs typeface="Times New Roman" panose="02020603050405020304" pitchFamily="18" charset="0"/>
            </a:endParaRPr>
          </a:p>
          <a:p>
            <a:pPr marL="469900" lvl="1" indent="-229235" algn="l">
              <a:lnSpc>
                <a:spcPct val="150000"/>
              </a:lnSpc>
              <a:spcBef>
                <a:spcPts val="850"/>
              </a:spcBef>
              <a:buSzPct val="83333"/>
              <a:buFont typeface="Symbol"/>
              <a:buChar char=""/>
              <a:tabLst>
                <a:tab pos="469900" algn="l"/>
                <a:tab pos="470534" algn="l"/>
              </a:tabLst>
              <a:defRPr/>
            </a:pPr>
            <a:r>
              <a:rPr lang="en-US" sz="1200" kern="0" spc="-10" dirty="0">
                <a:effectLst>
                  <a:glow rad="101600">
                    <a:schemeClr val="accent6">
                      <a:satMod val="175000"/>
                      <a:alpha val="40000"/>
                    </a:schemeClr>
                  </a:glow>
                </a:effectLst>
                <a:latin typeface="Times New Roman"/>
                <a:cs typeface="Times New Roman"/>
              </a:rPr>
              <a:t>Phone-</a:t>
            </a:r>
            <a:r>
              <a:rPr lang="en-US" sz="1200" kern="0" dirty="0">
                <a:effectLst>
                  <a:glow rad="101600">
                    <a:schemeClr val="accent6">
                      <a:satMod val="175000"/>
                      <a:alpha val="40000"/>
                    </a:schemeClr>
                  </a:glow>
                </a:effectLst>
                <a:latin typeface="Times New Roman"/>
                <a:cs typeface="Times New Roman"/>
              </a:rPr>
              <a:t>based</a:t>
            </a:r>
            <a:r>
              <a:rPr lang="en-US" sz="1200" kern="0" spc="5" dirty="0">
                <a:effectLst>
                  <a:glow rad="101600">
                    <a:schemeClr val="accent6">
                      <a:satMod val="175000"/>
                      <a:alpha val="40000"/>
                    </a:schemeClr>
                  </a:glow>
                </a:effectLst>
                <a:latin typeface="Times New Roman"/>
                <a:cs typeface="Times New Roman"/>
              </a:rPr>
              <a:t> </a:t>
            </a:r>
            <a:r>
              <a:rPr lang="en-US" sz="1200" kern="0" dirty="0">
                <a:effectLst>
                  <a:glow rad="101600">
                    <a:schemeClr val="accent6">
                      <a:satMod val="175000"/>
                      <a:alpha val="40000"/>
                    </a:schemeClr>
                  </a:glow>
                </a:effectLst>
                <a:latin typeface="Times New Roman"/>
                <a:cs typeface="Times New Roman"/>
              </a:rPr>
              <a:t>communication</a:t>
            </a:r>
            <a:r>
              <a:rPr lang="en-US" sz="1200" kern="0" spc="10" dirty="0">
                <a:effectLst>
                  <a:glow rad="101600">
                    <a:schemeClr val="accent6">
                      <a:satMod val="175000"/>
                      <a:alpha val="40000"/>
                    </a:schemeClr>
                  </a:glow>
                </a:effectLst>
                <a:latin typeface="Times New Roman"/>
                <a:cs typeface="Times New Roman"/>
              </a:rPr>
              <a:t> </a:t>
            </a:r>
            <a:r>
              <a:rPr lang="en-US" sz="1200" kern="0" dirty="0">
                <a:effectLst>
                  <a:glow rad="101600">
                    <a:schemeClr val="accent6">
                      <a:satMod val="175000"/>
                      <a:alpha val="40000"/>
                    </a:schemeClr>
                  </a:glow>
                </a:effectLst>
                <a:latin typeface="Times New Roman"/>
                <a:cs typeface="Times New Roman"/>
              </a:rPr>
              <a:t>between</a:t>
            </a:r>
            <a:r>
              <a:rPr lang="en-US" sz="1200" kern="0" spc="10" dirty="0">
                <a:effectLst>
                  <a:glow rad="101600">
                    <a:schemeClr val="accent6">
                      <a:satMod val="175000"/>
                      <a:alpha val="40000"/>
                    </a:schemeClr>
                  </a:glow>
                </a:effectLst>
                <a:latin typeface="Times New Roman"/>
                <a:cs typeface="Times New Roman"/>
              </a:rPr>
              <a:t> </a:t>
            </a:r>
            <a:r>
              <a:rPr lang="en-US" sz="1200" kern="0" spc="-10" dirty="0">
                <a:effectLst>
                  <a:glow rad="101600">
                    <a:schemeClr val="accent6">
                      <a:satMod val="175000"/>
                      <a:alpha val="40000"/>
                    </a:schemeClr>
                  </a:glow>
                </a:effectLst>
                <a:latin typeface="Times New Roman"/>
                <a:cs typeface="Times New Roman"/>
              </a:rPr>
              <a:t>hospitals.</a:t>
            </a:r>
            <a:endParaRPr lang="en-US" sz="1200" kern="0" dirty="0">
              <a:effectLst>
                <a:glow rad="101600">
                  <a:schemeClr val="accent6">
                    <a:satMod val="175000"/>
                    <a:alpha val="40000"/>
                  </a:schemeClr>
                </a:glow>
              </a:effectLst>
              <a:latin typeface="Times New Roman"/>
              <a:cs typeface="Times New Roman"/>
            </a:endParaRPr>
          </a:p>
          <a:p>
            <a:pPr marL="469900" lvl="1" indent="-229235" algn="l">
              <a:lnSpc>
                <a:spcPct val="150000"/>
              </a:lnSpc>
              <a:spcBef>
                <a:spcPts val="855"/>
              </a:spcBef>
              <a:buSzPct val="83333"/>
              <a:buFont typeface="Symbol"/>
              <a:buChar char=""/>
              <a:tabLst>
                <a:tab pos="469900" algn="l"/>
                <a:tab pos="470534" algn="l"/>
              </a:tabLst>
              <a:defRPr/>
            </a:pPr>
            <a:r>
              <a:rPr lang="en-US" sz="1200" kern="0" spc="-10" dirty="0">
                <a:effectLst>
                  <a:glow rad="101600">
                    <a:schemeClr val="accent6">
                      <a:satMod val="175000"/>
                      <a:alpha val="40000"/>
                    </a:schemeClr>
                  </a:glow>
                </a:effectLst>
                <a:latin typeface="Times New Roman"/>
                <a:cs typeface="Times New Roman"/>
              </a:rPr>
              <a:t>Paper-</a:t>
            </a:r>
            <a:r>
              <a:rPr lang="en-US" sz="1200" kern="0" dirty="0">
                <a:effectLst>
                  <a:glow rad="101600">
                    <a:schemeClr val="accent6">
                      <a:satMod val="175000"/>
                      <a:alpha val="40000"/>
                    </a:schemeClr>
                  </a:glow>
                </a:effectLst>
                <a:latin typeface="Times New Roman"/>
                <a:cs typeface="Times New Roman"/>
              </a:rPr>
              <a:t>based</a:t>
            </a:r>
            <a:r>
              <a:rPr lang="en-US" sz="1200" kern="0" spc="15" dirty="0">
                <a:effectLst>
                  <a:glow rad="101600">
                    <a:schemeClr val="accent6">
                      <a:satMod val="175000"/>
                      <a:alpha val="40000"/>
                    </a:schemeClr>
                  </a:glow>
                </a:effectLst>
                <a:latin typeface="Times New Roman"/>
                <a:cs typeface="Times New Roman"/>
              </a:rPr>
              <a:t> </a:t>
            </a:r>
            <a:r>
              <a:rPr lang="en-US" sz="1200" kern="0" spc="-10" dirty="0">
                <a:effectLst>
                  <a:glow rad="101600">
                    <a:schemeClr val="accent6">
                      <a:satMod val="175000"/>
                      <a:alpha val="40000"/>
                    </a:schemeClr>
                  </a:glow>
                </a:effectLst>
                <a:latin typeface="Times New Roman"/>
                <a:cs typeface="Times New Roman"/>
              </a:rPr>
              <a:t>documentation.</a:t>
            </a:r>
            <a:endParaRPr lang="en-US" sz="1200" kern="0" dirty="0">
              <a:effectLst>
                <a:glow rad="101600">
                  <a:schemeClr val="accent6">
                    <a:satMod val="175000"/>
                    <a:alpha val="40000"/>
                  </a:schemeClr>
                </a:glow>
              </a:effectLst>
              <a:latin typeface="Times New Roman"/>
              <a:cs typeface="Times New Roman"/>
            </a:endParaRPr>
          </a:p>
          <a:p>
            <a:pPr marL="469900" lvl="1" indent="-229235" algn="l">
              <a:lnSpc>
                <a:spcPct val="150000"/>
              </a:lnSpc>
              <a:spcBef>
                <a:spcPts val="840"/>
              </a:spcBef>
              <a:buSzPct val="83333"/>
              <a:buFont typeface="Symbol"/>
              <a:buChar char=""/>
              <a:tabLst>
                <a:tab pos="469900" algn="l"/>
                <a:tab pos="470534" algn="l"/>
              </a:tabLst>
              <a:defRPr/>
            </a:pPr>
            <a:r>
              <a:rPr lang="en-US" sz="1200" kern="0" dirty="0">
                <a:effectLst>
                  <a:glow rad="101600">
                    <a:schemeClr val="accent6">
                      <a:satMod val="175000"/>
                      <a:alpha val="40000"/>
                    </a:schemeClr>
                  </a:glow>
                </a:effectLst>
                <a:latin typeface="Times New Roman"/>
                <a:cs typeface="Times New Roman"/>
              </a:rPr>
              <a:t>Separate</a:t>
            </a:r>
            <a:r>
              <a:rPr lang="en-US" sz="1200" kern="0" spc="-15" dirty="0">
                <a:effectLst>
                  <a:glow rad="101600">
                    <a:schemeClr val="accent6">
                      <a:satMod val="175000"/>
                      <a:alpha val="40000"/>
                    </a:schemeClr>
                  </a:glow>
                </a:effectLst>
                <a:latin typeface="Times New Roman"/>
                <a:cs typeface="Times New Roman"/>
              </a:rPr>
              <a:t> </a:t>
            </a:r>
            <a:r>
              <a:rPr lang="en-US" sz="1200" kern="0" dirty="0">
                <a:effectLst>
                  <a:glow rad="101600">
                    <a:schemeClr val="accent6">
                      <a:satMod val="175000"/>
                      <a:alpha val="40000"/>
                    </a:schemeClr>
                  </a:glow>
                </a:effectLst>
                <a:latin typeface="Times New Roman"/>
                <a:cs typeface="Times New Roman"/>
              </a:rPr>
              <a:t>hospital</a:t>
            </a:r>
            <a:r>
              <a:rPr lang="en-US" sz="1200" kern="0" spc="-10" dirty="0">
                <a:effectLst>
                  <a:glow rad="101600">
                    <a:schemeClr val="accent6">
                      <a:satMod val="175000"/>
                      <a:alpha val="40000"/>
                    </a:schemeClr>
                  </a:glow>
                </a:effectLst>
                <a:latin typeface="Times New Roman"/>
                <a:cs typeface="Times New Roman"/>
              </a:rPr>
              <a:t> databases.</a:t>
            </a:r>
          </a:p>
        </p:txBody>
      </p:sp>
    </p:spTree>
    <p:extLst>
      <p:ext uri="{BB962C8B-B14F-4D97-AF65-F5344CB8AC3E}">
        <p14:creationId xmlns:p14="http://schemas.microsoft.com/office/powerpoint/2010/main" val="417078371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6E686AB-B36E-FE24-F259-F10360725C10}"/>
              </a:ext>
            </a:extLst>
          </p:cNvPr>
          <p:cNvSpPr txBox="1"/>
          <p:nvPr/>
        </p:nvSpPr>
        <p:spPr>
          <a:xfrm>
            <a:off x="907080" y="1170581"/>
            <a:ext cx="4588474" cy="3264996"/>
          </a:xfrm>
          <a:prstGeom prst="rect">
            <a:avLst/>
          </a:prstGeom>
          <a:noFill/>
        </p:spPr>
        <p:txBody>
          <a:bodyPr wrap="square">
            <a:spAutoFit/>
          </a:bodyPr>
          <a:lstStyle/>
          <a:p>
            <a:pPr marL="469900" lvl="1" indent="-229235" eaLnBrk="1" fontAlgn="auto" hangingPunct="1">
              <a:spcBef>
                <a:spcPts val="855"/>
              </a:spcBef>
              <a:spcAft>
                <a:spcPts val="0"/>
              </a:spcAft>
              <a:buSzPct val="83333"/>
              <a:buFont typeface="Symbol"/>
              <a:buChar char=""/>
              <a:tabLst>
                <a:tab pos="469900" algn="l"/>
                <a:tab pos="470534" algn="l"/>
              </a:tabLst>
              <a:defRPr/>
            </a:pPr>
            <a:r>
              <a:rPr lang="en-US" sz="1200" kern="0" spc="-10" dirty="0">
                <a:solidFill>
                  <a:schemeClr val="bg1"/>
                </a:solidFill>
                <a:effectLst>
                  <a:glow rad="101600">
                    <a:schemeClr val="accent6">
                      <a:satMod val="175000"/>
                      <a:alpha val="40000"/>
                    </a:schemeClr>
                  </a:glow>
                </a:effectLst>
                <a:latin typeface="Times New Roman"/>
                <a:cs typeface="Times New Roman"/>
              </a:rPr>
              <a:t>Time-</a:t>
            </a:r>
            <a:r>
              <a:rPr lang="en-US" sz="1200" kern="0" dirty="0">
                <a:solidFill>
                  <a:schemeClr val="bg1"/>
                </a:solidFill>
                <a:effectLst>
                  <a:glow rad="101600">
                    <a:schemeClr val="accent6">
                      <a:satMod val="175000"/>
                      <a:alpha val="40000"/>
                    </a:schemeClr>
                  </a:glow>
                </a:effectLst>
                <a:latin typeface="Times New Roman"/>
                <a:cs typeface="Times New Roman"/>
              </a:rPr>
              <a:t>consuming</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coordination</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eaLnBrk="1" fontAlgn="auto" hangingPunct="1">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High</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risk</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of</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organ</a:t>
            </a:r>
            <a:r>
              <a:rPr lang="en-US" sz="1200" kern="0" spc="-10" dirty="0">
                <a:solidFill>
                  <a:schemeClr val="bg1"/>
                </a:solidFill>
                <a:effectLst>
                  <a:glow rad="101600">
                    <a:schemeClr val="accent6">
                      <a:satMod val="175000"/>
                      <a:alpha val="40000"/>
                    </a:schemeClr>
                  </a:glow>
                </a:effectLst>
                <a:latin typeface="Times New Roman"/>
                <a:cs typeface="Times New Roman"/>
              </a:rPr>
              <a:t> wastage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eaLnBrk="1" fontAlgn="auto" hangingPunct="1">
              <a:spcBef>
                <a:spcPts val="84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Lack</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of</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transparency</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eaLnBrk="1" fontAlgn="auto" hangingPunct="1">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No</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centralized</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national</a:t>
            </a:r>
            <a:r>
              <a:rPr lang="en-US" sz="1200" kern="0" spc="-10" dirty="0">
                <a:solidFill>
                  <a:schemeClr val="bg1"/>
                </a:solidFill>
                <a:effectLst>
                  <a:glow rad="101600">
                    <a:schemeClr val="accent6">
                      <a:satMod val="175000"/>
                      <a:alpha val="40000"/>
                    </a:schemeClr>
                  </a:glow>
                </a:effectLst>
                <a:latin typeface="Times New Roman"/>
                <a:cs typeface="Times New Roman"/>
              </a:rPr>
              <a:t> database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eaLnBrk="1" fontAlgn="auto" hangingPunct="1">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Inefficient</a:t>
            </a:r>
            <a:r>
              <a:rPr lang="en-US" sz="1200" kern="0" spc="-4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emergency</a:t>
            </a:r>
            <a:r>
              <a:rPr lang="en-US" sz="1200" kern="0" spc="-30"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response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eaLnBrk="1" fontAlgn="auto" hangingPunct="1">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Limited</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accessibility</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for</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donors</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and</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patients</a:t>
            </a:r>
          </a:p>
          <a:p>
            <a:pPr marL="469900" lvl="1" indent="-229235">
              <a:spcBef>
                <a:spcPts val="855"/>
              </a:spcBef>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No</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centralized </a:t>
            </a:r>
            <a:r>
              <a:rPr lang="en-US" sz="1200" kern="0" spc="-10" dirty="0">
                <a:solidFill>
                  <a:schemeClr val="bg1"/>
                </a:solidFill>
                <a:effectLst>
                  <a:glow rad="101600">
                    <a:schemeClr val="accent6">
                      <a:satMod val="175000"/>
                      <a:alpha val="40000"/>
                    </a:schemeClr>
                  </a:glow>
                </a:effectLst>
                <a:latin typeface="Times New Roman"/>
                <a:cs typeface="Times New Roman"/>
              </a:rPr>
              <a:t>real-</a:t>
            </a:r>
            <a:r>
              <a:rPr lang="en-US" sz="1200" kern="0" dirty="0">
                <a:solidFill>
                  <a:schemeClr val="bg1"/>
                </a:solidFill>
                <a:effectLst>
                  <a:glow rad="101600">
                    <a:schemeClr val="accent6">
                      <a:satMod val="175000"/>
                      <a:alpha val="40000"/>
                    </a:schemeClr>
                  </a:glow>
                </a:effectLst>
                <a:latin typeface="Times New Roman"/>
                <a:cs typeface="Times New Roman"/>
              </a:rPr>
              <a:t>time</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tracking </a:t>
            </a:r>
            <a:r>
              <a:rPr lang="en-US" sz="1200" kern="0" spc="-10" dirty="0">
                <a:solidFill>
                  <a:schemeClr val="bg1"/>
                </a:solidFill>
                <a:effectLst>
                  <a:glow rad="101600">
                    <a:schemeClr val="accent6">
                      <a:satMod val="175000"/>
                      <a:alpha val="40000"/>
                    </a:schemeClr>
                  </a:glow>
                </a:effectLst>
                <a:latin typeface="Times New Roman"/>
                <a:cs typeface="Times New Roman"/>
              </a:rPr>
              <a:t>system</a:t>
            </a:r>
          </a:p>
          <a:p>
            <a:pPr marL="469900" lvl="1" indent="-229235">
              <a:spcBef>
                <a:spcPts val="855"/>
              </a:spcBef>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Delayed </a:t>
            </a:r>
            <a:r>
              <a:rPr lang="en-US" sz="1200" kern="0" spc="-10" dirty="0">
                <a:solidFill>
                  <a:schemeClr val="bg1"/>
                </a:solidFill>
                <a:effectLst>
                  <a:glow rad="101600">
                    <a:schemeClr val="accent6">
                      <a:satMod val="175000"/>
                      <a:alpha val="40000"/>
                    </a:schemeClr>
                  </a:glow>
                </a:effectLst>
                <a:latin typeface="Times New Roman"/>
                <a:cs typeface="Times New Roman"/>
              </a:rPr>
              <a:t>donor-</a:t>
            </a:r>
            <a:r>
              <a:rPr lang="en-US" sz="1200" kern="0" dirty="0">
                <a:solidFill>
                  <a:schemeClr val="bg1"/>
                </a:solidFill>
                <a:effectLst>
                  <a:glow rad="101600">
                    <a:schemeClr val="accent6">
                      <a:satMod val="175000"/>
                      <a:alpha val="40000"/>
                    </a:schemeClr>
                  </a:glow>
                </a:effectLst>
                <a:latin typeface="Times New Roman"/>
                <a:cs typeface="Times New Roman"/>
              </a:rPr>
              <a:t>patient </a:t>
            </a:r>
            <a:r>
              <a:rPr lang="en-US" sz="1200" kern="0" spc="-10" dirty="0">
                <a:solidFill>
                  <a:schemeClr val="bg1"/>
                </a:solidFill>
                <a:effectLst>
                  <a:glow rad="101600">
                    <a:schemeClr val="accent6">
                      <a:satMod val="175000"/>
                      <a:alpha val="40000"/>
                    </a:schemeClr>
                  </a:glow>
                </a:effectLst>
                <a:latin typeface="Times New Roman"/>
                <a:cs typeface="Times New Roman"/>
              </a:rPr>
              <a:t>matching</a:t>
            </a:r>
          </a:p>
          <a:p>
            <a:pPr marL="469900" lvl="1" indent="-229235">
              <a:spcBef>
                <a:spcPts val="855"/>
              </a:spcBef>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Limited</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emergency</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notification</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system</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a:spcBef>
                <a:spcPts val="855"/>
              </a:spcBef>
              <a:buSzPct val="83333"/>
              <a:buFont typeface="Symbol"/>
              <a:buChar char=""/>
              <a:tabLst>
                <a:tab pos="469900" algn="l"/>
                <a:tab pos="470534" algn="l"/>
              </a:tabLst>
              <a:defRPr/>
            </a:pPr>
            <a:endParaRPr lang="en-US" sz="1200" kern="0" dirty="0">
              <a:effectLst>
                <a:glow rad="101600">
                  <a:schemeClr val="accent6">
                    <a:satMod val="175000"/>
                    <a:alpha val="40000"/>
                  </a:schemeClr>
                </a:glow>
              </a:effectLst>
              <a:latin typeface="Times New Roman"/>
              <a:cs typeface="Times New Roman"/>
            </a:endParaRPr>
          </a:p>
          <a:p>
            <a:pPr marL="469900" lvl="1" indent="-229235" eaLnBrk="1" fontAlgn="auto" hangingPunct="1">
              <a:spcBef>
                <a:spcPts val="855"/>
              </a:spcBef>
              <a:spcAft>
                <a:spcPts val="0"/>
              </a:spcAft>
              <a:buSzPct val="83333"/>
              <a:buFont typeface="Symbol"/>
              <a:buChar char=""/>
              <a:tabLst>
                <a:tab pos="469900" algn="l"/>
                <a:tab pos="470534" algn="l"/>
              </a:tabLst>
              <a:defRPr/>
            </a:pPr>
            <a:endParaRPr lang="en-US" sz="1200" kern="0" dirty="0">
              <a:solidFill>
                <a:schemeClr val="bg1"/>
              </a:solidFill>
              <a:effectLst>
                <a:glow rad="101600">
                  <a:schemeClr val="accent6">
                    <a:satMod val="175000"/>
                    <a:alpha val="40000"/>
                  </a:schemeClr>
                </a:glow>
              </a:effectLst>
              <a:latin typeface="Times New Roman"/>
              <a:cs typeface="Times New Roman"/>
            </a:endParaRPr>
          </a:p>
        </p:txBody>
      </p:sp>
      <p:sp>
        <p:nvSpPr>
          <p:cNvPr id="6" name="TextBox 5">
            <a:extLst>
              <a:ext uri="{FF2B5EF4-FFF2-40B4-BE49-F238E27FC236}">
                <a16:creationId xmlns:a16="http://schemas.microsoft.com/office/drawing/2014/main" id="{C34E32E0-B92E-7EF2-31BD-AF27E2247995}"/>
              </a:ext>
            </a:extLst>
          </p:cNvPr>
          <p:cNvSpPr txBox="1"/>
          <p:nvPr/>
        </p:nvSpPr>
        <p:spPr>
          <a:xfrm>
            <a:off x="754375" y="739290"/>
            <a:ext cx="4588474" cy="307777"/>
          </a:xfrm>
          <a:prstGeom prst="rect">
            <a:avLst/>
          </a:prstGeom>
          <a:noFill/>
        </p:spPr>
        <p:txBody>
          <a:bodyPr wrap="square">
            <a:spAutoFit/>
          </a:bodyPr>
          <a:lstStyle/>
          <a:p>
            <a:pPr marL="12700">
              <a:spcBef>
                <a:spcPts val="5"/>
              </a:spcBef>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Limitations of Existing System:</a:t>
            </a:r>
          </a:p>
        </p:txBody>
      </p:sp>
    </p:spTree>
    <p:extLst>
      <p:ext uri="{BB962C8B-B14F-4D97-AF65-F5344CB8AC3E}">
        <p14:creationId xmlns:p14="http://schemas.microsoft.com/office/powerpoint/2010/main" val="10910069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9E1CED-5869-4E4E-7E14-FEDB72EA30CA}"/>
              </a:ext>
            </a:extLst>
          </p:cNvPr>
          <p:cNvSpPr txBox="1"/>
          <p:nvPr/>
        </p:nvSpPr>
        <p:spPr>
          <a:xfrm>
            <a:off x="448965" y="891995"/>
            <a:ext cx="4588474" cy="307777"/>
          </a:xfrm>
          <a:prstGeom prst="rect">
            <a:avLst/>
          </a:prstGeom>
          <a:noFill/>
        </p:spPr>
        <p:txBody>
          <a:bodyPr wrap="square">
            <a:spAutoFit/>
          </a:bodyPr>
          <a:lstStyle/>
          <a:p>
            <a:pPr marL="12700">
              <a:spcBef>
                <a:spcPts val="100"/>
              </a:spcBef>
              <a:tabLst>
                <a:tab pos="165100" algn="l"/>
              </a:tabLst>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Proposed System:</a:t>
            </a:r>
          </a:p>
        </p:txBody>
      </p:sp>
      <p:sp>
        <p:nvSpPr>
          <p:cNvPr id="5" name="TextBox 4">
            <a:extLst>
              <a:ext uri="{FF2B5EF4-FFF2-40B4-BE49-F238E27FC236}">
                <a16:creationId xmlns:a16="http://schemas.microsoft.com/office/drawing/2014/main" id="{C624B14B-A2C6-79FE-3572-9E8D33DC8C43}"/>
              </a:ext>
            </a:extLst>
          </p:cNvPr>
          <p:cNvSpPr txBox="1"/>
          <p:nvPr/>
        </p:nvSpPr>
        <p:spPr>
          <a:xfrm>
            <a:off x="907080" y="1334648"/>
            <a:ext cx="6413610" cy="2046842"/>
          </a:xfrm>
          <a:prstGeom prst="rect">
            <a:avLst/>
          </a:prstGeom>
          <a:noFill/>
        </p:spPr>
        <p:txBody>
          <a:bodyPr wrap="square">
            <a:spAutoFit/>
          </a:bodyPr>
          <a:lstStyle/>
          <a:p>
            <a:pPr marL="12700" algn="just" eaLnBrk="1" fontAlgn="auto" hangingPunct="1">
              <a:spcBef>
                <a:spcPts val="850"/>
              </a:spcBef>
              <a:spcAft>
                <a:spcPts val="0"/>
              </a:spcAft>
              <a:defRPr/>
            </a:pPr>
            <a:r>
              <a:rPr lang="en-US" sz="1400" kern="0" dirty="0">
                <a:solidFill>
                  <a:schemeClr val="bg1"/>
                </a:solidFill>
                <a:effectLst>
                  <a:glow rad="101600">
                    <a:schemeClr val="accent6">
                      <a:satMod val="175000"/>
                      <a:alpha val="40000"/>
                    </a:schemeClr>
                  </a:glow>
                </a:effectLst>
                <a:latin typeface="Times New Roman"/>
                <a:cs typeface="Times New Roman"/>
              </a:rPr>
              <a:t>The</a:t>
            </a:r>
            <a:r>
              <a:rPr lang="en-US" sz="1400" kern="0" spc="-15"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proposed</a:t>
            </a:r>
            <a:r>
              <a:rPr lang="en-US" sz="1400" kern="0" spc="-5"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system is</a:t>
            </a:r>
            <a:r>
              <a:rPr lang="en-US" sz="1400" kern="0" spc="-10"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a</a:t>
            </a:r>
            <a:r>
              <a:rPr lang="en-US" sz="1400" kern="0" spc="10"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Full-</a:t>
            </a:r>
            <a:r>
              <a:rPr lang="en-US" sz="1400" kern="0" spc="-10" dirty="0">
                <a:solidFill>
                  <a:schemeClr val="bg1"/>
                </a:solidFill>
                <a:effectLst>
                  <a:glow rad="101600">
                    <a:schemeClr val="accent6">
                      <a:satMod val="175000"/>
                      <a:alpha val="40000"/>
                    </a:schemeClr>
                  </a:glow>
                </a:effectLst>
                <a:latin typeface="Times New Roman"/>
                <a:cs typeface="Times New Roman"/>
              </a:rPr>
              <a:t>stack-</a:t>
            </a:r>
            <a:r>
              <a:rPr lang="en-US" sz="1400" kern="0" dirty="0">
                <a:solidFill>
                  <a:schemeClr val="bg1"/>
                </a:solidFill>
                <a:effectLst>
                  <a:glow rad="101600">
                    <a:schemeClr val="accent6">
                      <a:satMod val="175000"/>
                      <a:alpha val="40000"/>
                    </a:schemeClr>
                  </a:glow>
                </a:effectLst>
                <a:latin typeface="Times New Roman"/>
                <a:cs typeface="Times New Roman"/>
              </a:rPr>
              <a:t>based web application</a:t>
            </a:r>
            <a:r>
              <a:rPr lang="en-US" sz="1400" kern="0" spc="-5"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designed</a:t>
            </a:r>
            <a:r>
              <a:rPr lang="en-US" sz="1400" kern="0" spc="-5"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to</a:t>
            </a:r>
            <a:r>
              <a:rPr lang="en-US" sz="1400" kern="0" spc="-5" dirty="0">
                <a:solidFill>
                  <a:schemeClr val="bg1"/>
                </a:solidFill>
                <a:effectLst>
                  <a:glow rad="101600">
                    <a:schemeClr val="accent6">
                      <a:satMod val="175000"/>
                      <a:alpha val="40000"/>
                    </a:schemeClr>
                  </a:glow>
                </a:effectLst>
                <a:latin typeface="Times New Roman"/>
                <a:cs typeface="Times New Roman"/>
              </a:rPr>
              <a:t> </a:t>
            </a:r>
            <a:r>
              <a:rPr lang="en-US" sz="1400" kern="0" dirty="0">
                <a:solidFill>
                  <a:schemeClr val="bg1"/>
                </a:solidFill>
                <a:effectLst>
                  <a:glow rad="101600">
                    <a:schemeClr val="accent6">
                      <a:satMod val="175000"/>
                      <a:alpha val="40000"/>
                    </a:schemeClr>
                  </a:glow>
                </a:effectLst>
                <a:latin typeface="Times New Roman"/>
                <a:cs typeface="Times New Roman"/>
              </a:rPr>
              <a:t>digitally </a:t>
            </a:r>
            <a:r>
              <a:rPr lang="en-US" sz="1400" kern="0" spc="-10" dirty="0">
                <a:solidFill>
                  <a:schemeClr val="bg1"/>
                </a:solidFill>
                <a:effectLst>
                  <a:glow rad="101600">
                    <a:schemeClr val="accent6">
                      <a:satMod val="175000"/>
                      <a:alpha val="40000"/>
                    </a:schemeClr>
                  </a:glow>
                </a:effectLst>
                <a:latin typeface="Times New Roman"/>
                <a:cs typeface="Times New Roman"/>
              </a:rPr>
              <a:t>connect:</a:t>
            </a:r>
            <a:endParaRPr lang="en-US" sz="1400" kern="0" dirty="0">
              <a:solidFill>
                <a:schemeClr val="bg1"/>
              </a:solidFill>
              <a:effectLst>
                <a:glow rad="101600">
                  <a:schemeClr val="accent6">
                    <a:satMod val="175000"/>
                    <a:alpha val="40000"/>
                  </a:schemeClr>
                </a:glow>
              </a:effectLst>
              <a:latin typeface="Times New Roman"/>
              <a:cs typeface="Times New Roman"/>
            </a:endParaRPr>
          </a:p>
          <a:p>
            <a:pPr marL="469900" lvl="1" indent="-229235" algn="just" eaLnBrk="1" fontAlgn="auto" hangingPunct="1">
              <a:lnSpc>
                <a:spcPct val="150000"/>
              </a:lnSpc>
              <a:spcBef>
                <a:spcPts val="840"/>
              </a:spcBef>
              <a:spcAft>
                <a:spcPts val="0"/>
              </a:spcAft>
              <a:buSzPct val="83333"/>
              <a:buFont typeface="Symbol"/>
              <a:buChar char=""/>
              <a:tabLst>
                <a:tab pos="469900" algn="l"/>
                <a:tab pos="470534" algn="l"/>
              </a:tabLst>
              <a:defRPr/>
            </a:pPr>
            <a:r>
              <a:rPr lang="en-US" sz="1200" b="1" kern="0" dirty="0">
                <a:solidFill>
                  <a:schemeClr val="bg1"/>
                </a:solidFill>
                <a:effectLst>
                  <a:glow rad="101600">
                    <a:schemeClr val="accent6">
                      <a:satMod val="175000"/>
                      <a:alpha val="40000"/>
                    </a:schemeClr>
                  </a:glow>
                </a:effectLst>
                <a:latin typeface="Times New Roman"/>
                <a:cs typeface="Times New Roman"/>
              </a:rPr>
              <a:t>Patients</a:t>
            </a:r>
            <a:r>
              <a:rPr lang="en-US" sz="1200" b="1" kern="0" spc="-3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Submit</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organ</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requests</a:t>
            </a:r>
          </a:p>
          <a:p>
            <a:pPr marL="469900" lvl="1" indent="-229235" algn="just" eaLnBrk="1" fontAlgn="auto" hangingPunct="1">
              <a:lnSpc>
                <a:spcPct val="150000"/>
              </a:lnSpc>
              <a:spcBef>
                <a:spcPts val="855"/>
              </a:spcBef>
              <a:spcAft>
                <a:spcPts val="0"/>
              </a:spcAft>
              <a:buSzPct val="83333"/>
              <a:buFont typeface="Symbol"/>
              <a:buChar char=""/>
              <a:tabLst>
                <a:tab pos="469900" algn="l"/>
                <a:tab pos="470534" algn="l"/>
              </a:tabLst>
              <a:defRPr/>
            </a:pPr>
            <a:r>
              <a:rPr lang="en-US" sz="1200" b="1" kern="0" dirty="0">
                <a:solidFill>
                  <a:schemeClr val="bg1"/>
                </a:solidFill>
                <a:effectLst>
                  <a:glow rad="101600">
                    <a:schemeClr val="accent6">
                      <a:satMod val="175000"/>
                      <a:alpha val="40000"/>
                    </a:schemeClr>
                  </a:glow>
                </a:effectLst>
                <a:latin typeface="Times New Roman"/>
                <a:cs typeface="Times New Roman"/>
              </a:rPr>
              <a:t>Donors</a:t>
            </a:r>
            <a:r>
              <a:rPr lang="en-US" sz="1200" b="1" kern="0" spc="-2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t>
            </a:r>
            <a:r>
              <a:rPr lang="en-US" sz="1200" kern="0" spc="-40"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View</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requests</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and</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respond</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lvl="1" indent="-229235" algn="just">
              <a:lnSpc>
                <a:spcPct val="150000"/>
              </a:lnSpc>
              <a:spcBef>
                <a:spcPts val="855"/>
              </a:spcBef>
              <a:buSzPct val="83333"/>
              <a:buFont typeface="Symbol"/>
              <a:buChar char=""/>
              <a:tabLst>
                <a:tab pos="469900" algn="l"/>
                <a:tab pos="470534" algn="l"/>
              </a:tabLst>
              <a:defRPr/>
            </a:pPr>
            <a:r>
              <a:rPr lang="en-US" sz="1200" b="1" kern="0" dirty="0">
                <a:solidFill>
                  <a:schemeClr val="bg1"/>
                </a:solidFill>
                <a:effectLst>
                  <a:glow rad="101600">
                    <a:schemeClr val="accent6">
                      <a:satMod val="175000"/>
                      <a:alpha val="40000"/>
                    </a:schemeClr>
                  </a:glow>
                </a:effectLst>
                <a:latin typeface="Times New Roman"/>
                <a:cs typeface="Times New Roman"/>
              </a:rPr>
              <a:t>Hospitals</a:t>
            </a:r>
            <a:r>
              <a:rPr lang="en-US" sz="1200" b="1"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Manage</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organ</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availability</a:t>
            </a:r>
            <a:r>
              <a:rPr lang="en-US" sz="1200" kern="0" spc="-10" dirty="0">
                <a:solidFill>
                  <a:schemeClr val="bg1"/>
                </a:solidFill>
                <a:effectLst>
                  <a:glow rad="101600">
                    <a:schemeClr val="accent6">
                      <a:satMod val="175000"/>
                      <a:alpha val="40000"/>
                    </a:schemeClr>
                  </a:glow>
                </a:effectLst>
                <a:latin typeface="Times New Roman"/>
                <a:cs typeface="Times New Roman"/>
              </a:rPr>
              <a:t>,</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emergencies and </a:t>
            </a:r>
            <a:r>
              <a:rPr lang="en-US" sz="1200" kern="0" dirty="0">
                <a:solidFill>
                  <a:schemeClr val="bg1"/>
                </a:solidFill>
                <a:effectLst>
                  <a:glow rad="101600">
                    <a:schemeClr val="accent6">
                      <a:satMod val="175000"/>
                      <a:alpha val="40000"/>
                    </a:schemeClr>
                  </a:glow>
                </a:effectLst>
                <a:latin typeface="Times New Roman"/>
                <a:cs typeface="Times New Roman"/>
              </a:rPr>
              <a:t>track</a:t>
            </a:r>
            <a:r>
              <a:rPr lang="en-US" sz="1200" kern="0" spc="-10" dirty="0">
                <a:solidFill>
                  <a:schemeClr val="bg1"/>
                </a:solidFill>
                <a:effectLst>
                  <a:glow rad="101600">
                    <a:schemeClr val="accent6">
                      <a:satMod val="175000"/>
                      <a:alpha val="40000"/>
                    </a:schemeClr>
                  </a:glow>
                </a:effectLst>
                <a:latin typeface="Times New Roman"/>
                <a:cs typeface="Times New Roman"/>
              </a:rPr>
              <a:t> status</a:t>
            </a:r>
          </a:p>
          <a:p>
            <a:pPr marL="469900" lvl="1" indent="-229235" algn="just">
              <a:lnSpc>
                <a:spcPct val="150000"/>
              </a:lnSpc>
              <a:spcBef>
                <a:spcPts val="855"/>
              </a:spcBef>
              <a:buSzPct val="83333"/>
              <a:buFont typeface="Symbol"/>
              <a:buChar char=""/>
              <a:tabLst>
                <a:tab pos="469900" algn="l"/>
                <a:tab pos="470534" algn="l"/>
              </a:tabLst>
              <a:defRPr/>
            </a:pPr>
            <a:r>
              <a:rPr lang="en-US" sz="1200" dirty="0">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Allow hospitals or patients to </a:t>
            </a:r>
            <a:r>
              <a:rPr lang="en-US" sz="1200" b="1" dirty="0">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search for suitable donors quickly</a:t>
            </a:r>
            <a:endParaRPr lang="en-IN" sz="1200" dirty="0">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85766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899" y="688699"/>
            <a:ext cx="529596" cy="4397651"/>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338409" y="482600"/>
            <a:ext cx="315230" cy="425168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8790" y="482600"/>
            <a:ext cx="8200127" cy="4043958"/>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BAF2FF63-C942-94D7-10F2-FE24923E2855}"/>
              </a:ext>
            </a:extLst>
          </p:cNvPr>
          <p:cNvGraphicFramePr>
            <a:graphicFrameLocks noGrp="1"/>
          </p:cNvGraphicFramePr>
          <p:nvPr>
            <p:extLst>
              <p:ext uri="{D42A27DB-BD31-4B8C-83A1-F6EECF244321}">
                <p14:modId xmlns:p14="http://schemas.microsoft.com/office/powerpoint/2010/main" val="905250415"/>
              </p:ext>
            </p:extLst>
          </p:nvPr>
        </p:nvGraphicFramePr>
        <p:xfrm>
          <a:off x="706383" y="931165"/>
          <a:ext cx="7731234" cy="3324744"/>
        </p:xfrm>
        <a:graphic>
          <a:graphicData uri="http://schemas.openxmlformats.org/drawingml/2006/table">
            <a:tbl>
              <a:tblPr firstRow="1" bandRow="1">
                <a:noFill/>
              </a:tblPr>
              <a:tblGrid>
                <a:gridCol w="507793">
                  <a:extLst>
                    <a:ext uri="{9D8B030D-6E8A-4147-A177-3AD203B41FA5}">
                      <a16:colId xmlns:a16="http://schemas.microsoft.com/office/drawing/2014/main" val="1895786597"/>
                    </a:ext>
                  </a:extLst>
                </a:gridCol>
                <a:gridCol w="1735808">
                  <a:extLst>
                    <a:ext uri="{9D8B030D-6E8A-4147-A177-3AD203B41FA5}">
                      <a16:colId xmlns:a16="http://schemas.microsoft.com/office/drawing/2014/main" val="1723684960"/>
                    </a:ext>
                  </a:extLst>
                </a:gridCol>
                <a:gridCol w="2644856">
                  <a:extLst>
                    <a:ext uri="{9D8B030D-6E8A-4147-A177-3AD203B41FA5}">
                      <a16:colId xmlns:a16="http://schemas.microsoft.com/office/drawing/2014/main" val="3720528947"/>
                    </a:ext>
                  </a:extLst>
                </a:gridCol>
                <a:gridCol w="1448344">
                  <a:extLst>
                    <a:ext uri="{9D8B030D-6E8A-4147-A177-3AD203B41FA5}">
                      <a16:colId xmlns:a16="http://schemas.microsoft.com/office/drawing/2014/main" val="2051930454"/>
                    </a:ext>
                  </a:extLst>
                </a:gridCol>
                <a:gridCol w="1394433">
                  <a:extLst>
                    <a:ext uri="{9D8B030D-6E8A-4147-A177-3AD203B41FA5}">
                      <a16:colId xmlns:a16="http://schemas.microsoft.com/office/drawing/2014/main" val="833241501"/>
                    </a:ext>
                  </a:extLst>
                </a:gridCol>
              </a:tblGrid>
              <a:tr h="354823">
                <a:tc>
                  <a:txBody>
                    <a:bodyPr/>
                    <a:lstStyle/>
                    <a:p>
                      <a:pPr>
                        <a:buNone/>
                      </a:pPr>
                      <a:r>
                        <a:rPr lang="en-IN" sz="900" b="1" cap="none" spc="0">
                          <a:solidFill>
                            <a:schemeClr val="bg1"/>
                          </a:solidFill>
                        </a:rPr>
                        <a:t>SL. NO</a:t>
                      </a:r>
                    </a:p>
                  </a:txBody>
                  <a:tcPr marL="43399" marR="30999" marT="61998" marB="61998"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900" b="1" cap="none" spc="0" dirty="0">
                          <a:solidFill>
                            <a:schemeClr val="bg1"/>
                          </a:solidFill>
                        </a:rPr>
                        <a:t>TITLE AND AUTHOR</a:t>
                      </a:r>
                    </a:p>
                  </a:txBody>
                  <a:tcPr marL="43399" marR="30999" marT="61998" marB="61998"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900" b="1" cap="none" spc="0">
                          <a:solidFill>
                            <a:schemeClr val="bg1"/>
                          </a:solidFill>
                        </a:rPr>
                        <a:t>METHODOLOGY USED</a:t>
                      </a:r>
                    </a:p>
                  </a:txBody>
                  <a:tcPr marL="43399" marR="30999" marT="61998" marB="61998"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900" b="1" cap="none" spc="0">
                          <a:solidFill>
                            <a:schemeClr val="bg1"/>
                          </a:solidFill>
                        </a:rPr>
                        <a:t>ADVANTAGES</a:t>
                      </a:r>
                    </a:p>
                  </a:txBody>
                  <a:tcPr marL="43399" marR="30999" marT="61998" marB="61998" anchor="ctr">
                    <a:lnL w="12700" cmpd="sng">
                      <a:noFill/>
                    </a:lnL>
                    <a:lnR w="12700" cmpd="sng">
                      <a:noFill/>
                    </a:lnR>
                    <a:lnT w="19050" cap="flat" cmpd="sng" algn="ctr">
                      <a:noFill/>
                      <a:prstDash val="solid"/>
                    </a:lnT>
                    <a:lnB w="38100" cmpd="sng">
                      <a:noFill/>
                    </a:lnB>
                    <a:solidFill>
                      <a:schemeClr val="tx1"/>
                    </a:solidFill>
                  </a:tcPr>
                </a:tc>
                <a:tc>
                  <a:txBody>
                    <a:bodyPr/>
                    <a:lstStyle/>
                    <a:p>
                      <a:pPr>
                        <a:buNone/>
                      </a:pPr>
                      <a:r>
                        <a:rPr lang="en-IN" sz="900" b="1" cap="none" spc="0">
                          <a:solidFill>
                            <a:schemeClr val="bg1"/>
                          </a:solidFill>
                        </a:rPr>
                        <a:t>DRAWBACKS</a:t>
                      </a:r>
                    </a:p>
                  </a:txBody>
                  <a:tcPr marL="43399" marR="30999" marT="61998" marB="61998"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418883056"/>
                  </a:ext>
                </a:extLst>
              </a:tr>
              <a:tr h="713925">
                <a:tc>
                  <a:txBody>
                    <a:bodyPr/>
                    <a:lstStyle/>
                    <a:p>
                      <a:pPr>
                        <a:buNone/>
                      </a:pPr>
                      <a:r>
                        <a:rPr lang="en-IN" sz="800" cap="none" spc="0">
                          <a:solidFill>
                            <a:schemeClr val="tx1"/>
                          </a:solidFill>
                        </a:rPr>
                        <a:t>1</a:t>
                      </a:r>
                    </a:p>
                  </a:txBody>
                  <a:tcPr marL="43399" marR="30999" marT="7671" marB="61998"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IN" sz="800" b="1" cap="none" spc="0">
                          <a:solidFill>
                            <a:schemeClr val="tx1"/>
                          </a:solidFill>
                        </a:rPr>
                        <a:t>"Web-Based Organ Donation Management System"</a:t>
                      </a:r>
                      <a:r>
                        <a:rPr lang="en-IN" sz="800" cap="none" spc="0">
                          <a:solidFill>
                            <a:schemeClr val="tx1"/>
                          </a:solidFill>
                        </a:rPr>
                        <a:t> – R. Kumar et al. (2021)</a:t>
                      </a:r>
                    </a:p>
                  </a:txBody>
                  <a:tcPr marL="43399" marR="30999" marT="7671" marB="61998"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IN" sz="800" cap="none" spc="0">
                          <a:solidFill>
                            <a:schemeClr val="tx1"/>
                          </a:solidFill>
                        </a:rPr>
                        <a:t>Developed a centralized web platform for donor registration, patient requests, and hospital coordination using a relational database system.</a:t>
                      </a:r>
                    </a:p>
                  </a:txBody>
                  <a:tcPr marL="43399" marR="30999" marT="7671" marB="61998"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IN" sz="800" cap="none" spc="0">
                          <a:solidFill>
                            <a:schemeClr val="tx1"/>
                          </a:solidFill>
                        </a:rPr>
                        <a:t>Improves communication between stakeholders and reduces processing delays.</a:t>
                      </a:r>
                    </a:p>
                  </a:txBody>
                  <a:tcPr marL="43399" marR="30999" marT="7671" marB="61998" anchor="ctr">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a:buNone/>
                      </a:pPr>
                      <a:r>
                        <a:rPr lang="en-IN" sz="800" cap="none" spc="0">
                          <a:solidFill>
                            <a:schemeClr val="tx1"/>
                          </a:solidFill>
                        </a:rPr>
                        <a:t>Limited real-time tracking and depends on continuous internet connectivity.</a:t>
                      </a:r>
                    </a:p>
                  </a:txBody>
                  <a:tcPr marL="43399" marR="30999" marT="7671" marB="61998" anchor="ctr">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2153568778"/>
                  </a:ext>
                </a:extLst>
              </a:tr>
              <a:tr h="563999">
                <a:tc>
                  <a:txBody>
                    <a:bodyPr/>
                    <a:lstStyle/>
                    <a:p>
                      <a:pPr>
                        <a:buNone/>
                      </a:pPr>
                      <a:r>
                        <a:rPr lang="en-IN" sz="800" cap="none" spc="0">
                          <a:solidFill>
                            <a:schemeClr val="tx1"/>
                          </a:solidFill>
                        </a:rPr>
                        <a:t>2</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b="1" cap="none" spc="0">
                          <a:solidFill>
                            <a:schemeClr val="tx1"/>
                          </a:solidFill>
                        </a:rPr>
                        <a:t>"Hospital Information Management System"</a:t>
                      </a:r>
                      <a:r>
                        <a:rPr lang="en-IN" sz="800" cap="none" spc="0">
                          <a:solidFill>
                            <a:schemeClr val="tx1"/>
                          </a:solidFill>
                        </a:rPr>
                        <a:t> – S. Sharma et al. (2022)</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cap="none" spc="0" dirty="0">
                          <a:solidFill>
                            <a:schemeClr val="tx1"/>
                          </a:solidFill>
                        </a:rPr>
                        <a:t>Implemented a digital healthcare management system for maintaining patient records and hospital operations.</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cap="none" spc="0">
                          <a:solidFill>
                            <a:schemeClr val="tx1"/>
                          </a:solidFill>
                        </a:rPr>
                        <a:t>Enhances data management, accuracy, and operational efficiency.</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cap="none" spc="0">
                          <a:solidFill>
                            <a:schemeClr val="tx1"/>
                          </a:solidFill>
                        </a:rPr>
                        <a:t>Requires regular maintenance and staff training.</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73385581"/>
                  </a:ext>
                </a:extLst>
              </a:tr>
              <a:tr h="563999">
                <a:tc>
                  <a:txBody>
                    <a:bodyPr/>
                    <a:lstStyle/>
                    <a:p>
                      <a:pPr>
                        <a:buNone/>
                      </a:pPr>
                      <a:r>
                        <a:rPr lang="en-IN" sz="800" cap="none" spc="0">
                          <a:solidFill>
                            <a:schemeClr val="tx1"/>
                          </a:solidFill>
                        </a:rPr>
                        <a:t>3</a:t>
                      </a:r>
                    </a:p>
                  </a:txBody>
                  <a:tcPr marL="43399" marR="30999" marT="7671" marB="61998"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IN" sz="800" b="1" cap="none" spc="0">
                          <a:solidFill>
                            <a:schemeClr val="tx1"/>
                          </a:solidFill>
                        </a:rPr>
                        <a:t>"Organ Allocation and Tracking System"</a:t>
                      </a:r>
                      <a:r>
                        <a:rPr lang="en-IN" sz="800" cap="none" spc="0">
                          <a:solidFill>
                            <a:schemeClr val="tx1"/>
                          </a:solidFill>
                        </a:rPr>
                        <a:t> – M. Patel et al. (2023)</a:t>
                      </a:r>
                    </a:p>
                  </a:txBody>
                  <a:tcPr marL="43399" marR="30999" marT="7671" marB="61998"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IN" sz="800" cap="none" spc="0">
                          <a:solidFill>
                            <a:schemeClr val="tx1"/>
                          </a:solidFill>
                        </a:rPr>
                        <a:t>Designed an organ allocation framework with tracking mechanisms to improve organ distribution transparency.</a:t>
                      </a:r>
                    </a:p>
                  </a:txBody>
                  <a:tcPr marL="43399" marR="30999" marT="7671" marB="61998"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IN" sz="800" cap="none" spc="0">
                          <a:solidFill>
                            <a:schemeClr val="tx1"/>
                          </a:solidFill>
                        </a:rPr>
                        <a:t>Reduces organ wastage and improves allocation efficiency.</a:t>
                      </a:r>
                    </a:p>
                  </a:txBody>
                  <a:tcPr marL="43399" marR="30999" marT="7671" marB="61998"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a:buNone/>
                      </a:pPr>
                      <a:r>
                        <a:rPr lang="en-IN" sz="800" cap="none" spc="0">
                          <a:solidFill>
                            <a:schemeClr val="tx1"/>
                          </a:solidFill>
                        </a:rPr>
                        <a:t>Integration with multiple hospitals can be complex.</a:t>
                      </a:r>
                    </a:p>
                  </a:txBody>
                  <a:tcPr marL="43399" marR="30999" marT="7671" marB="61998" anchor="ctr">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645249552"/>
                  </a:ext>
                </a:extLst>
              </a:tr>
              <a:tr h="563999">
                <a:tc>
                  <a:txBody>
                    <a:bodyPr/>
                    <a:lstStyle/>
                    <a:p>
                      <a:pPr>
                        <a:buNone/>
                      </a:pPr>
                      <a:r>
                        <a:rPr lang="en-IN" sz="800" cap="none" spc="0">
                          <a:solidFill>
                            <a:schemeClr val="tx1"/>
                          </a:solidFill>
                        </a:rPr>
                        <a:t>4</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b="1" cap="none" spc="0">
                          <a:solidFill>
                            <a:schemeClr val="tx1"/>
                          </a:solidFill>
                        </a:rPr>
                        <a:t>"Cloud-Based Healthcare Management System"</a:t>
                      </a:r>
                      <a:r>
                        <a:rPr lang="en-IN" sz="800" cap="none" spc="0">
                          <a:solidFill>
                            <a:schemeClr val="tx1"/>
                          </a:solidFill>
                        </a:rPr>
                        <a:t> – A. Verma et al. (2022)</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cap="none" spc="0">
                          <a:solidFill>
                            <a:schemeClr val="tx1"/>
                          </a:solidFill>
                        </a:rPr>
                        <a:t>Utilized cloud computing for secure storage, accessibility, and management of healthcare data.</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cap="none" spc="0">
                          <a:solidFill>
                            <a:schemeClr val="tx1"/>
                          </a:solidFill>
                        </a:rPr>
                        <a:t>Scalable, accessible, and supports large volumes of data.</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a:buNone/>
                      </a:pPr>
                      <a:r>
                        <a:rPr lang="en-IN" sz="800" cap="none" spc="0" dirty="0">
                          <a:solidFill>
                            <a:schemeClr val="tx1"/>
                          </a:solidFill>
                        </a:rPr>
                        <a:t>Data privacy and cybersecurity concerns may arise.</a:t>
                      </a:r>
                    </a:p>
                  </a:txBody>
                  <a:tcPr marL="43399" marR="30999" marT="7671" marB="61998" anchor="ctr">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27183208"/>
                  </a:ext>
                </a:extLst>
              </a:tr>
              <a:tr h="563999">
                <a:tc>
                  <a:txBody>
                    <a:bodyPr/>
                    <a:lstStyle/>
                    <a:p>
                      <a:pPr>
                        <a:buNone/>
                      </a:pPr>
                      <a:r>
                        <a:rPr lang="en-IN" sz="800" cap="none" spc="0">
                          <a:solidFill>
                            <a:schemeClr val="tx1"/>
                          </a:solidFill>
                        </a:rPr>
                        <a:t>5</a:t>
                      </a:r>
                    </a:p>
                  </a:txBody>
                  <a:tcPr marL="43399" marR="30999" marT="7671" marB="619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800" b="1" cap="none" spc="0">
                          <a:solidFill>
                            <a:schemeClr val="tx1"/>
                          </a:solidFill>
                        </a:rPr>
                        <a:t>"Secure Authentication for Healthcare Applications"</a:t>
                      </a:r>
                      <a:r>
                        <a:rPr lang="en-IN" sz="800" cap="none" spc="0">
                          <a:solidFill>
                            <a:schemeClr val="tx1"/>
                          </a:solidFill>
                        </a:rPr>
                        <a:t> – P. Singh et al. (2023)</a:t>
                      </a:r>
                    </a:p>
                  </a:txBody>
                  <a:tcPr marL="43399" marR="30999" marT="7671" marB="619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800" cap="none" spc="0">
                          <a:solidFill>
                            <a:schemeClr val="tx1"/>
                          </a:solidFill>
                        </a:rPr>
                        <a:t>Applied role-based authentication and encrypted access control for healthcare systems.</a:t>
                      </a:r>
                    </a:p>
                  </a:txBody>
                  <a:tcPr marL="43399" marR="30999" marT="7671" marB="619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800" cap="none" spc="0">
                          <a:solidFill>
                            <a:schemeClr val="tx1"/>
                          </a:solidFill>
                        </a:rPr>
                        <a:t>Protects sensitive medical information and improves system security.</a:t>
                      </a:r>
                    </a:p>
                  </a:txBody>
                  <a:tcPr marL="43399" marR="30999" marT="7671" marB="61998"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IN" sz="800" cap="none" spc="0" dirty="0">
                          <a:solidFill>
                            <a:schemeClr val="tx1"/>
                          </a:solidFill>
                        </a:rPr>
                        <a:t>Increased implementation complexity and operational cost.</a:t>
                      </a:r>
                    </a:p>
                  </a:txBody>
                  <a:tcPr marL="43399" marR="30999" marT="7671" marB="6199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61636320"/>
                  </a:ext>
                </a:extLst>
              </a:tr>
            </a:tbl>
          </a:graphicData>
        </a:graphic>
      </p:graphicFrame>
      <p:sp>
        <p:nvSpPr>
          <p:cNvPr id="4" name="TextBox 3">
            <a:extLst>
              <a:ext uri="{FF2B5EF4-FFF2-40B4-BE49-F238E27FC236}">
                <a16:creationId xmlns:a16="http://schemas.microsoft.com/office/drawing/2014/main" id="{8AEBF99D-9C83-5884-434E-537FE35BEDAC}"/>
              </a:ext>
            </a:extLst>
          </p:cNvPr>
          <p:cNvSpPr txBox="1"/>
          <p:nvPr/>
        </p:nvSpPr>
        <p:spPr>
          <a:xfrm>
            <a:off x="601670" y="552994"/>
            <a:ext cx="4587498" cy="307777"/>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Literature Surveys:</a:t>
            </a:r>
          </a:p>
        </p:txBody>
      </p:sp>
    </p:spTree>
    <p:extLst>
      <p:ext uri="{BB962C8B-B14F-4D97-AF65-F5344CB8AC3E}">
        <p14:creationId xmlns:p14="http://schemas.microsoft.com/office/powerpoint/2010/main" val="3066401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DF0539-D1DF-DD1A-D845-E64E2F7CA289}"/>
              </a:ext>
            </a:extLst>
          </p:cNvPr>
          <p:cNvSpPr txBox="1"/>
          <p:nvPr/>
        </p:nvSpPr>
        <p:spPr>
          <a:xfrm>
            <a:off x="448965" y="555596"/>
            <a:ext cx="4588474" cy="307777"/>
          </a:xfrm>
          <a:prstGeom prst="rect">
            <a:avLst/>
          </a:prstGeom>
          <a:noFill/>
        </p:spPr>
        <p:txBody>
          <a:bodyPr wrap="square">
            <a:spAutoFit/>
          </a:bodyPr>
          <a:lstStyle/>
          <a:p>
            <a:pPr marL="12700">
              <a:spcBef>
                <a:spcPts val="100"/>
              </a:spcBef>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Key Features:</a:t>
            </a:r>
          </a:p>
        </p:txBody>
      </p:sp>
      <p:sp>
        <p:nvSpPr>
          <p:cNvPr id="5" name="TextBox 4">
            <a:extLst>
              <a:ext uri="{FF2B5EF4-FFF2-40B4-BE49-F238E27FC236}">
                <a16:creationId xmlns:a16="http://schemas.microsoft.com/office/drawing/2014/main" id="{604C3022-C7F5-7A35-4762-737B665FBE44}"/>
              </a:ext>
            </a:extLst>
          </p:cNvPr>
          <p:cNvSpPr txBox="1"/>
          <p:nvPr/>
        </p:nvSpPr>
        <p:spPr>
          <a:xfrm>
            <a:off x="601670" y="863373"/>
            <a:ext cx="6566315" cy="3057375"/>
          </a:xfrm>
          <a:prstGeom prst="rect">
            <a:avLst/>
          </a:prstGeom>
          <a:noFill/>
        </p:spPr>
        <p:txBody>
          <a:bodyPr wrap="square">
            <a:spAutoFit/>
          </a:bodyPr>
          <a:lstStyle/>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Secure</a:t>
            </a:r>
            <a:r>
              <a:rPr lang="en-IN" sz="1200" kern="0" spc="-10" dirty="0">
                <a:solidFill>
                  <a:schemeClr val="bg1"/>
                </a:solidFill>
                <a:effectLst>
                  <a:glow rad="101600">
                    <a:schemeClr val="accent6">
                      <a:satMod val="175000"/>
                      <a:alpha val="40000"/>
                    </a:schemeClr>
                  </a:glow>
                </a:effectLst>
                <a:latin typeface="Times New Roman"/>
                <a:cs typeface="Times New Roman"/>
              </a:rPr>
              <a:t> Role-</a:t>
            </a:r>
            <a:r>
              <a:rPr lang="en-IN" sz="1200" kern="0" dirty="0">
                <a:solidFill>
                  <a:schemeClr val="bg1"/>
                </a:solidFill>
                <a:effectLst>
                  <a:glow rad="101600">
                    <a:schemeClr val="accent6">
                      <a:satMod val="175000"/>
                      <a:alpha val="40000"/>
                    </a:schemeClr>
                  </a:glow>
                </a:effectLst>
                <a:latin typeface="Times New Roman"/>
                <a:cs typeface="Times New Roman"/>
              </a:rPr>
              <a:t>Based</a:t>
            </a:r>
            <a:r>
              <a:rPr lang="en-IN" sz="1200" kern="0" spc="-6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Authentication</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spc="-30" dirty="0">
                <a:solidFill>
                  <a:schemeClr val="bg1"/>
                </a:solidFill>
                <a:effectLst>
                  <a:glow rad="101600">
                    <a:schemeClr val="accent6">
                      <a:satMod val="175000"/>
                      <a:alpha val="40000"/>
                    </a:schemeClr>
                  </a:glow>
                </a:effectLst>
                <a:latin typeface="Times New Roman"/>
                <a:cs typeface="Times New Roman"/>
              </a:rPr>
              <a:t>(JWT-</a:t>
            </a:r>
            <a:r>
              <a:rPr lang="en-IN" sz="1200" kern="0" dirty="0">
                <a:solidFill>
                  <a:schemeClr val="bg1"/>
                </a:solidFill>
                <a:effectLst>
                  <a:glow rad="101600">
                    <a:schemeClr val="accent6">
                      <a:satMod val="175000"/>
                      <a:alpha val="40000"/>
                    </a:schemeClr>
                  </a:glow>
                </a:effectLst>
                <a:latin typeface="Times New Roman"/>
                <a:cs typeface="Times New Roman"/>
              </a:rPr>
              <a:t>based</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login</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system)</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Organ</a:t>
            </a:r>
            <a:r>
              <a:rPr lang="en-IN" sz="1200" kern="0" spc="-2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Request</a:t>
            </a:r>
            <a:r>
              <a:rPr lang="en-IN" sz="1200" kern="0" spc="-2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Management</a:t>
            </a:r>
            <a:r>
              <a:rPr lang="en-IN" sz="1200" kern="0" spc="-20"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Module</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40"/>
              </a:spcBef>
              <a:spcAft>
                <a:spcPts val="0"/>
              </a:spcAft>
              <a:buSzPct val="83333"/>
              <a:buFont typeface="Symbol"/>
              <a:buChar char=""/>
              <a:tabLst>
                <a:tab pos="469900" algn="l"/>
                <a:tab pos="470534" algn="l"/>
              </a:tabLst>
              <a:defRPr/>
            </a:pPr>
            <a:r>
              <a:rPr lang="en-IN" sz="1200" kern="0" spc="-10" dirty="0">
                <a:solidFill>
                  <a:schemeClr val="bg1"/>
                </a:solidFill>
                <a:effectLst>
                  <a:glow rad="101600">
                    <a:schemeClr val="accent6">
                      <a:satMod val="175000"/>
                      <a:alpha val="40000"/>
                    </a:schemeClr>
                  </a:glow>
                </a:effectLst>
                <a:latin typeface="Times New Roman"/>
                <a:cs typeface="Times New Roman"/>
              </a:rPr>
              <a:t>Real-</a:t>
            </a:r>
            <a:r>
              <a:rPr lang="en-IN" sz="1200" kern="0" dirty="0">
                <a:solidFill>
                  <a:schemeClr val="bg1"/>
                </a:solidFill>
                <a:effectLst>
                  <a:glow rad="101600">
                    <a:schemeClr val="accent6">
                      <a:satMod val="175000"/>
                      <a:alpha val="40000"/>
                    </a:schemeClr>
                  </a:glow>
                </a:effectLst>
                <a:latin typeface="Times New Roman"/>
                <a:cs typeface="Times New Roman"/>
              </a:rPr>
              <a:t>Time</a:t>
            </a:r>
            <a:r>
              <a:rPr lang="en-IN" sz="1200" kern="0" spc="-4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Organ</a:t>
            </a:r>
            <a:r>
              <a:rPr lang="en-IN" sz="1200" kern="0" spc="-5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Tracking</a:t>
            </a:r>
            <a:r>
              <a:rPr lang="en-IN" sz="1200" kern="0" spc="-2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System</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IN" sz="1200" kern="0" spc="-10" dirty="0">
                <a:solidFill>
                  <a:schemeClr val="bg1"/>
                </a:solidFill>
                <a:effectLst>
                  <a:glow rad="101600">
                    <a:schemeClr val="accent6">
                      <a:satMod val="175000"/>
                      <a:alpha val="40000"/>
                    </a:schemeClr>
                  </a:glow>
                </a:effectLst>
                <a:latin typeface="Times New Roman"/>
                <a:cs typeface="Times New Roman"/>
              </a:rPr>
              <a:t>Emergency</a:t>
            </a:r>
            <a:r>
              <a:rPr lang="en-IN" sz="1200" kern="0" spc="-5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Alert</a:t>
            </a:r>
            <a:r>
              <a:rPr lang="en-IN" sz="1200" kern="0" spc="30"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Broadcasting</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Hospital</a:t>
            </a:r>
            <a:r>
              <a:rPr lang="en-IN" sz="1200" kern="0" spc="-3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Directory</a:t>
            </a:r>
            <a:r>
              <a:rPr lang="en-IN" sz="1200" kern="0" spc="-2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(India-</a:t>
            </a:r>
            <a:r>
              <a:rPr lang="en-IN" sz="1200" kern="0" spc="-10" dirty="0">
                <a:solidFill>
                  <a:schemeClr val="bg1"/>
                </a:solidFill>
                <a:effectLst>
                  <a:glow rad="101600">
                    <a:schemeClr val="accent6">
                      <a:satMod val="175000"/>
                      <a:alpha val="40000"/>
                    </a:schemeClr>
                  </a:glow>
                </a:effectLst>
                <a:latin typeface="Times New Roman"/>
                <a:cs typeface="Times New Roman"/>
              </a:rPr>
              <a:t>wide)</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Integrated</a:t>
            </a:r>
            <a:r>
              <a:rPr lang="en-IN" sz="1200" kern="0" spc="-2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Chat</a:t>
            </a:r>
            <a:r>
              <a:rPr lang="en-IN" sz="1200" kern="0" spc="-10" dirty="0">
                <a:solidFill>
                  <a:schemeClr val="bg1"/>
                </a:solidFill>
                <a:effectLst>
                  <a:glow rad="101600">
                    <a:schemeClr val="accent6">
                      <a:satMod val="175000"/>
                      <a:alpha val="40000"/>
                    </a:schemeClr>
                  </a:glow>
                </a:effectLst>
                <a:latin typeface="Times New Roman"/>
                <a:cs typeface="Times New Roman"/>
              </a:rPr>
              <a:t> System</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40"/>
              </a:spcBef>
              <a:spcAft>
                <a:spcPts val="0"/>
              </a:spcAft>
              <a:buSzPct val="83333"/>
              <a:buFont typeface="Symbol"/>
              <a:buChar char=""/>
              <a:tabLst>
                <a:tab pos="469900" algn="l"/>
                <a:tab pos="470534"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Organ</a:t>
            </a:r>
            <a:r>
              <a:rPr lang="en-IN" sz="1200" kern="0" spc="-6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Transfer</a:t>
            </a:r>
            <a:r>
              <a:rPr lang="en-IN" sz="1200" kern="0" spc="-3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Status</a:t>
            </a:r>
            <a:r>
              <a:rPr lang="en-IN" sz="1200" kern="0" spc="-3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Monitoring</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Admin</a:t>
            </a:r>
            <a:r>
              <a:rPr lang="en-IN" sz="1200" kern="0" spc="-3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Dashboard</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for</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Monitoring</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and</a:t>
            </a:r>
            <a:r>
              <a:rPr lang="en-IN" sz="1200" kern="0" spc="-10" dirty="0">
                <a:solidFill>
                  <a:schemeClr val="bg1"/>
                </a:solidFill>
                <a:effectLst>
                  <a:glow rad="101600">
                    <a:schemeClr val="accent6">
                      <a:satMod val="175000"/>
                      <a:alpha val="40000"/>
                    </a:schemeClr>
                  </a:glow>
                </a:effectLst>
                <a:latin typeface="Times New Roman"/>
                <a:cs typeface="Times New Roman"/>
              </a:rPr>
              <a:t> Control</a:t>
            </a:r>
            <a:endParaRPr lang="en-IN" sz="1200" kern="0" dirty="0">
              <a:solidFill>
                <a:schemeClr val="bg1"/>
              </a:solidFill>
              <a:effectLst>
                <a:glow rad="101600">
                  <a:schemeClr val="accent6">
                    <a:satMod val="175000"/>
                    <a:alpha val="40000"/>
                  </a:schemeClr>
                </a:glow>
              </a:effectLst>
              <a:latin typeface="Times New Roman"/>
              <a:cs typeface="Times New Roman"/>
            </a:endParaRPr>
          </a:p>
        </p:txBody>
      </p:sp>
    </p:spTree>
    <p:extLst>
      <p:ext uri="{BB962C8B-B14F-4D97-AF65-F5344CB8AC3E}">
        <p14:creationId xmlns:p14="http://schemas.microsoft.com/office/powerpoint/2010/main" val="191676766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60AB57-2B6E-07D0-2DA4-A82F3F6D460C}"/>
              </a:ext>
            </a:extLst>
          </p:cNvPr>
          <p:cNvSpPr txBox="1"/>
          <p:nvPr/>
        </p:nvSpPr>
        <p:spPr>
          <a:xfrm>
            <a:off x="601670" y="888445"/>
            <a:ext cx="4588474" cy="307777"/>
          </a:xfrm>
          <a:prstGeom prst="rect">
            <a:avLst/>
          </a:prstGeom>
          <a:noFill/>
        </p:spPr>
        <p:txBody>
          <a:bodyPr wrap="square">
            <a:spAutoFit/>
          </a:bodyPr>
          <a:lstStyle/>
          <a:p>
            <a:pPr marL="12700">
              <a:spcBef>
                <a:spcPts val="940"/>
              </a:spcBef>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Advantages:</a:t>
            </a:r>
          </a:p>
        </p:txBody>
      </p:sp>
      <p:sp>
        <p:nvSpPr>
          <p:cNvPr id="5" name="TextBox 4">
            <a:extLst>
              <a:ext uri="{FF2B5EF4-FFF2-40B4-BE49-F238E27FC236}">
                <a16:creationId xmlns:a16="http://schemas.microsoft.com/office/drawing/2014/main" id="{8D65A7C0-6731-F6CD-0C06-F04F360D0BA5}"/>
              </a:ext>
            </a:extLst>
          </p:cNvPr>
          <p:cNvSpPr txBox="1"/>
          <p:nvPr/>
        </p:nvSpPr>
        <p:spPr>
          <a:xfrm>
            <a:off x="754375" y="1196222"/>
            <a:ext cx="6566315" cy="2285369"/>
          </a:xfrm>
          <a:prstGeom prst="rect">
            <a:avLst/>
          </a:prstGeom>
          <a:noFill/>
        </p:spPr>
        <p:txBody>
          <a:bodyPr wrap="square">
            <a:spAutoFit/>
          </a:bodyPr>
          <a:lstStyle/>
          <a:p>
            <a:pPr marL="469900" indent="-229235" eaLnBrk="1" fontAlgn="auto" hangingPunct="1">
              <a:lnSpc>
                <a:spcPct val="150000"/>
              </a:lnSpc>
              <a:spcBef>
                <a:spcPts val="84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Faster</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communication</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between</a:t>
            </a:r>
            <a:r>
              <a:rPr lang="en-US" sz="1200" kern="0" spc="-10" dirty="0">
                <a:solidFill>
                  <a:schemeClr val="bg1"/>
                </a:solidFill>
                <a:effectLst>
                  <a:glow rad="101600">
                    <a:schemeClr val="accent6">
                      <a:satMod val="175000"/>
                      <a:alpha val="40000"/>
                    </a:schemeClr>
                  </a:glow>
                </a:effectLst>
                <a:latin typeface="Times New Roman"/>
                <a:cs typeface="Times New Roman"/>
              </a:rPr>
              <a:t> stakeholders</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Reduced</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organ</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wastage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Transparent</a:t>
            </a:r>
            <a:r>
              <a:rPr lang="en-US" sz="1200" kern="0" spc="-4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organ</a:t>
            </a:r>
            <a:r>
              <a:rPr lang="en-US" sz="1200" kern="0" spc="-4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tracking</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Centralized </a:t>
            </a:r>
            <a:r>
              <a:rPr lang="en-US" sz="1200" kern="0" spc="-10" dirty="0">
                <a:solidFill>
                  <a:schemeClr val="bg1"/>
                </a:solidFill>
                <a:effectLst>
                  <a:glow rad="101600">
                    <a:schemeClr val="accent6">
                      <a:satMod val="175000"/>
                      <a:alpha val="40000"/>
                    </a:schemeClr>
                  </a:glow>
                </a:effectLst>
                <a:latin typeface="Times New Roman"/>
                <a:cs typeface="Times New Roman"/>
              </a:rPr>
              <a:t>cloud-</a:t>
            </a:r>
            <a:r>
              <a:rPr lang="en-US" sz="1200" kern="0" dirty="0">
                <a:solidFill>
                  <a:schemeClr val="bg1"/>
                </a:solidFill>
                <a:effectLst>
                  <a:glow rad="101600">
                    <a:schemeClr val="accent6">
                      <a:satMod val="175000"/>
                      <a:alpha val="40000"/>
                    </a:schemeClr>
                  </a:glow>
                </a:effectLst>
                <a:latin typeface="Times New Roman"/>
                <a:cs typeface="Times New Roman"/>
              </a:rPr>
              <a:t>based</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database</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(MySQL)</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4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Scalable</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and</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secure</a:t>
            </a:r>
            <a:r>
              <a:rPr lang="en-US" sz="1200" kern="0" spc="-10" dirty="0">
                <a:solidFill>
                  <a:schemeClr val="bg1"/>
                </a:solidFill>
                <a:effectLst>
                  <a:glow rad="101600">
                    <a:schemeClr val="accent6">
                      <a:satMod val="175000"/>
                      <a:alpha val="40000"/>
                    </a:schemeClr>
                  </a:glow>
                </a:effectLst>
                <a:latin typeface="Times New Roman"/>
                <a:cs typeface="Times New Roman"/>
              </a:rPr>
              <a:t> architecture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Improved</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emergency</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response</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efficiency</a:t>
            </a:r>
            <a:endParaRPr lang="en-US" sz="1200" kern="0" dirty="0">
              <a:solidFill>
                <a:schemeClr val="bg1"/>
              </a:solidFill>
              <a:effectLst>
                <a:glow rad="101600">
                  <a:schemeClr val="accent6">
                    <a:satMod val="175000"/>
                    <a:alpha val="40000"/>
                  </a:schemeClr>
                </a:glow>
              </a:effectLst>
              <a:latin typeface="Times New Roman"/>
              <a:cs typeface="Times New Roman"/>
            </a:endParaRPr>
          </a:p>
        </p:txBody>
      </p:sp>
    </p:spTree>
    <p:extLst>
      <p:ext uri="{BB962C8B-B14F-4D97-AF65-F5344CB8AC3E}">
        <p14:creationId xmlns:p14="http://schemas.microsoft.com/office/powerpoint/2010/main" val="234216578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EF603B-19E4-2C44-4E1A-42CFBAF474EA}"/>
              </a:ext>
            </a:extLst>
          </p:cNvPr>
          <p:cNvSpPr txBox="1"/>
          <p:nvPr/>
        </p:nvSpPr>
        <p:spPr>
          <a:xfrm>
            <a:off x="754375" y="889628"/>
            <a:ext cx="4587498" cy="307777"/>
          </a:xfrm>
          <a:prstGeom prst="rect">
            <a:avLst/>
          </a:prstGeom>
          <a:noFill/>
        </p:spPr>
        <p:txBody>
          <a:bodyPr wrap="square">
            <a:spAutoFit/>
          </a:bodyPr>
          <a:lstStyle/>
          <a:p>
            <a:pPr marL="12700">
              <a:spcBef>
                <a:spcPts val="940"/>
              </a:spcBef>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Disadvantages:</a:t>
            </a:r>
          </a:p>
        </p:txBody>
      </p:sp>
      <p:sp>
        <p:nvSpPr>
          <p:cNvPr id="5" name="TextBox 4">
            <a:extLst>
              <a:ext uri="{FF2B5EF4-FFF2-40B4-BE49-F238E27FC236}">
                <a16:creationId xmlns:a16="http://schemas.microsoft.com/office/drawing/2014/main" id="{D9B029A4-E0CE-0AB1-7813-CC98526302C1}"/>
              </a:ext>
            </a:extLst>
          </p:cNvPr>
          <p:cNvSpPr txBox="1"/>
          <p:nvPr/>
        </p:nvSpPr>
        <p:spPr>
          <a:xfrm>
            <a:off x="1059785" y="1350110"/>
            <a:ext cx="4587498" cy="1892954"/>
          </a:xfrm>
          <a:prstGeom prst="rect">
            <a:avLst/>
          </a:prstGeom>
          <a:noFill/>
        </p:spPr>
        <p:txBody>
          <a:bodyPr wrap="square">
            <a:spAutoFit/>
          </a:bodyPr>
          <a:lstStyle/>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Dependence on internet Connectivity</a:t>
            </a:r>
          </a:p>
          <a:p>
            <a:pPr marL="469900" indent="-229235" eaLnBrk="1" fontAlgn="auto" hangingPunct="1">
              <a:lnSpc>
                <a:spcPct val="150000"/>
              </a:lnSpc>
              <a:spcBef>
                <a:spcPts val="84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High Maintenance and Operational Costs</a:t>
            </a: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Challenges in Verification and Authentication</a:t>
            </a: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Data Privacy and Security Risks</a:t>
            </a: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Potential Server Downtime</a:t>
            </a:r>
          </a:p>
        </p:txBody>
      </p:sp>
    </p:spTree>
    <p:extLst>
      <p:ext uri="{BB962C8B-B14F-4D97-AF65-F5344CB8AC3E}">
        <p14:creationId xmlns:p14="http://schemas.microsoft.com/office/powerpoint/2010/main" val="2761424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E09274-D72D-4A87-C923-BE1DAF0F710A}"/>
              </a:ext>
            </a:extLst>
          </p:cNvPr>
          <p:cNvSpPr txBox="1"/>
          <p:nvPr/>
        </p:nvSpPr>
        <p:spPr>
          <a:xfrm>
            <a:off x="448965" y="519113"/>
            <a:ext cx="4588474" cy="307777"/>
          </a:xfrm>
          <a:prstGeom prst="rect">
            <a:avLst/>
          </a:prstGeom>
          <a:noFill/>
        </p:spPr>
        <p:txBody>
          <a:bodyPr wrap="square">
            <a:spAutoFit/>
          </a:bodyPr>
          <a:lstStyle/>
          <a:p>
            <a:pPr marL="12700">
              <a:spcBef>
                <a:spcPts val="940"/>
              </a:spcBef>
              <a:defRPr/>
            </a:pPr>
            <a:r>
              <a:rPr lang="en-IN" sz="1400" b="1" kern="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a:cs typeface="Times New Roman"/>
              </a:rPr>
              <a:t>System Requirements:</a:t>
            </a:r>
          </a:p>
        </p:txBody>
      </p:sp>
      <p:sp>
        <p:nvSpPr>
          <p:cNvPr id="5" name="TextBox 4">
            <a:extLst>
              <a:ext uri="{FF2B5EF4-FFF2-40B4-BE49-F238E27FC236}">
                <a16:creationId xmlns:a16="http://schemas.microsoft.com/office/drawing/2014/main" id="{8D4501F9-F744-F715-F5A6-E97A7E3D8695}"/>
              </a:ext>
            </a:extLst>
          </p:cNvPr>
          <p:cNvSpPr txBox="1"/>
          <p:nvPr/>
        </p:nvSpPr>
        <p:spPr>
          <a:xfrm>
            <a:off x="907080" y="934611"/>
            <a:ext cx="4588474" cy="307777"/>
          </a:xfrm>
          <a:prstGeom prst="rect">
            <a:avLst/>
          </a:prstGeom>
          <a:noFill/>
        </p:spPr>
        <p:txBody>
          <a:bodyPr wrap="square">
            <a:spAutoFit/>
          </a:bodyPr>
          <a:lstStyle/>
          <a:p>
            <a:pPr marL="50800" eaLnBrk="1" fontAlgn="auto" hangingPunct="1">
              <a:spcBef>
                <a:spcPts val="840"/>
              </a:spcBef>
              <a:spcAft>
                <a:spcPts val="0"/>
              </a:spcAft>
              <a:defRPr/>
            </a:pPr>
            <a:r>
              <a:rPr lang="en-IN" sz="1400" b="1" kern="0" dirty="0">
                <a:solidFill>
                  <a:schemeClr val="bg1"/>
                </a:solidFill>
                <a:effectLst>
                  <a:glow rad="228600">
                    <a:schemeClr val="accent6">
                      <a:satMod val="175000"/>
                      <a:alpha val="40000"/>
                    </a:schemeClr>
                  </a:glow>
                </a:effectLst>
                <a:latin typeface="Times New Roman"/>
                <a:cs typeface="Times New Roman"/>
              </a:rPr>
              <a:t>1)Hardware</a:t>
            </a:r>
            <a:r>
              <a:rPr lang="en-IN" sz="1400" b="1" kern="0" spc="-25" dirty="0">
                <a:solidFill>
                  <a:schemeClr val="bg1"/>
                </a:solidFill>
                <a:effectLst>
                  <a:glow rad="228600">
                    <a:schemeClr val="accent6">
                      <a:satMod val="175000"/>
                      <a:alpha val="40000"/>
                    </a:schemeClr>
                  </a:glow>
                </a:effectLst>
                <a:latin typeface="Times New Roman"/>
                <a:cs typeface="Times New Roman"/>
              </a:rPr>
              <a:t> </a:t>
            </a:r>
            <a:r>
              <a:rPr lang="en-IN" sz="1400" b="1" kern="0" spc="-10" dirty="0">
                <a:solidFill>
                  <a:schemeClr val="bg1"/>
                </a:solidFill>
                <a:effectLst>
                  <a:glow rad="228600">
                    <a:schemeClr val="accent6">
                      <a:satMod val="175000"/>
                      <a:alpha val="40000"/>
                    </a:schemeClr>
                  </a:glow>
                </a:effectLst>
                <a:latin typeface="Times New Roman"/>
                <a:cs typeface="Times New Roman"/>
              </a:rPr>
              <a:t>Requirements:</a:t>
            </a:r>
            <a:endParaRPr lang="en-IN" sz="1400" kern="0" dirty="0">
              <a:solidFill>
                <a:schemeClr val="bg1"/>
              </a:solidFill>
              <a:effectLst>
                <a:glow rad="228600">
                  <a:schemeClr val="accent6">
                    <a:satMod val="175000"/>
                    <a:alpha val="40000"/>
                  </a:schemeClr>
                </a:glow>
              </a:effectLst>
              <a:latin typeface="Times New Roman"/>
              <a:cs typeface="Times New Roman"/>
            </a:endParaRPr>
          </a:p>
        </p:txBody>
      </p:sp>
      <p:sp>
        <p:nvSpPr>
          <p:cNvPr id="7" name="TextBox 6">
            <a:extLst>
              <a:ext uri="{FF2B5EF4-FFF2-40B4-BE49-F238E27FC236}">
                <a16:creationId xmlns:a16="http://schemas.microsoft.com/office/drawing/2014/main" id="{D06D8641-D792-61AD-157A-64C4B178F38C}"/>
              </a:ext>
            </a:extLst>
          </p:cNvPr>
          <p:cNvSpPr txBox="1"/>
          <p:nvPr/>
        </p:nvSpPr>
        <p:spPr>
          <a:xfrm>
            <a:off x="1059785" y="1350109"/>
            <a:ext cx="4588474" cy="1500539"/>
          </a:xfrm>
          <a:prstGeom prst="rect">
            <a:avLst/>
          </a:prstGeom>
          <a:noFill/>
        </p:spPr>
        <p:txBody>
          <a:bodyPr wrap="square">
            <a:spAutoFit/>
          </a:bodyPr>
          <a:lstStyle/>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Processor:</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Intel</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i3</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a:t>
            </a:r>
            <a:r>
              <a:rPr lang="en-US" sz="1200" kern="0" spc="-10" dirty="0">
                <a:solidFill>
                  <a:schemeClr val="bg1"/>
                </a:solidFill>
                <a:effectLst>
                  <a:glow rad="101600">
                    <a:schemeClr val="accent6">
                      <a:satMod val="175000"/>
                      <a:alpha val="40000"/>
                    </a:schemeClr>
                  </a:glow>
                </a:effectLst>
                <a:latin typeface="Times New Roman"/>
                <a:cs typeface="Times New Roman"/>
              </a:rPr>
              <a:t> above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5"/>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RAM:</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Minimum</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4GB</a:t>
            </a:r>
            <a:r>
              <a:rPr lang="en-US" sz="1200" kern="0" spc="-1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(8GB</a:t>
            </a:r>
            <a:r>
              <a:rPr lang="en-US" sz="1200" kern="0" spc="-10" dirty="0">
                <a:solidFill>
                  <a:schemeClr val="bg1"/>
                </a:solidFill>
                <a:effectLst>
                  <a:glow rad="101600">
                    <a:schemeClr val="accent6">
                      <a:satMod val="175000"/>
                      <a:alpha val="40000"/>
                    </a:schemeClr>
                  </a:glow>
                </a:effectLst>
                <a:latin typeface="Times New Roman"/>
                <a:cs typeface="Times New Roman"/>
              </a:rPr>
              <a:t> Recommended)</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5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Hard</a:t>
            </a:r>
            <a:r>
              <a:rPr lang="en-US" sz="1200" kern="0" spc="-10"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Disk: 250GB</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dirty="0">
                <a:solidFill>
                  <a:schemeClr val="bg1"/>
                </a:solidFill>
                <a:effectLst>
                  <a:glow rad="101600">
                    <a:schemeClr val="accent6">
                      <a:satMod val="175000"/>
                      <a:alpha val="40000"/>
                    </a:schemeClr>
                  </a:glow>
                </a:effectLst>
                <a:latin typeface="Times New Roman"/>
                <a:cs typeface="Times New Roman"/>
              </a:rPr>
              <a:t>or</a:t>
            </a:r>
            <a:r>
              <a:rPr lang="en-US" sz="1200" kern="0" spc="-5"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above</a:t>
            </a:r>
            <a:endParaRPr lang="en-US" sz="1200" kern="0" dirty="0">
              <a:solidFill>
                <a:schemeClr val="bg1"/>
              </a:solidFill>
              <a:effectLst>
                <a:glow rad="101600">
                  <a:schemeClr val="accent6">
                    <a:satMod val="175000"/>
                    <a:alpha val="40000"/>
                  </a:schemeClr>
                </a:glow>
              </a:effectLst>
              <a:latin typeface="Times New Roman"/>
              <a:cs typeface="Times New Roman"/>
            </a:endParaRPr>
          </a:p>
          <a:p>
            <a:pPr marL="469900" indent="-229235" eaLnBrk="1" fontAlgn="auto" hangingPunct="1">
              <a:lnSpc>
                <a:spcPct val="150000"/>
              </a:lnSpc>
              <a:spcBef>
                <a:spcPts val="840"/>
              </a:spcBef>
              <a:spcAft>
                <a:spcPts val="0"/>
              </a:spcAft>
              <a:buSzPct val="83333"/>
              <a:buFont typeface="Symbol"/>
              <a:buChar char=""/>
              <a:tabLst>
                <a:tab pos="469900" algn="l"/>
                <a:tab pos="470534" algn="l"/>
              </a:tabLst>
              <a:defRPr/>
            </a:pPr>
            <a:r>
              <a:rPr lang="en-US" sz="1200" kern="0" dirty="0">
                <a:solidFill>
                  <a:schemeClr val="bg1"/>
                </a:solidFill>
                <a:effectLst>
                  <a:glow rad="101600">
                    <a:schemeClr val="accent6">
                      <a:satMod val="175000"/>
                      <a:alpha val="40000"/>
                    </a:schemeClr>
                  </a:glow>
                </a:effectLst>
                <a:latin typeface="Times New Roman"/>
                <a:cs typeface="Times New Roman"/>
              </a:rPr>
              <a:t>Internet</a:t>
            </a:r>
            <a:r>
              <a:rPr lang="en-US" sz="1200" kern="0" spc="-20" dirty="0">
                <a:solidFill>
                  <a:schemeClr val="bg1"/>
                </a:solidFill>
                <a:effectLst>
                  <a:glow rad="101600">
                    <a:schemeClr val="accent6">
                      <a:satMod val="175000"/>
                      <a:alpha val="40000"/>
                    </a:schemeClr>
                  </a:glow>
                </a:effectLst>
                <a:latin typeface="Times New Roman"/>
                <a:cs typeface="Times New Roman"/>
              </a:rPr>
              <a:t> </a:t>
            </a:r>
            <a:r>
              <a:rPr lang="en-US" sz="1200" kern="0" spc="-10" dirty="0">
                <a:solidFill>
                  <a:schemeClr val="bg1"/>
                </a:solidFill>
                <a:effectLst>
                  <a:glow rad="101600">
                    <a:schemeClr val="accent6">
                      <a:satMod val="175000"/>
                      <a:alpha val="40000"/>
                    </a:schemeClr>
                  </a:glow>
                </a:effectLst>
                <a:latin typeface="Times New Roman"/>
                <a:cs typeface="Times New Roman"/>
              </a:rPr>
              <a:t>Connection</a:t>
            </a:r>
          </a:p>
        </p:txBody>
      </p:sp>
    </p:spTree>
    <p:extLst>
      <p:ext uri="{BB962C8B-B14F-4D97-AF65-F5344CB8AC3E}">
        <p14:creationId xmlns:p14="http://schemas.microsoft.com/office/powerpoint/2010/main" val="205410297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7BE285-A2DE-135F-0D57-D63686EA274C}"/>
              </a:ext>
            </a:extLst>
          </p:cNvPr>
          <p:cNvSpPr txBox="1"/>
          <p:nvPr/>
        </p:nvSpPr>
        <p:spPr>
          <a:xfrm>
            <a:off x="754375" y="543088"/>
            <a:ext cx="4588474" cy="307777"/>
          </a:xfrm>
          <a:prstGeom prst="rect">
            <a:avLst/>
          </a:prstGeom>
          <a:noFill/>
        </p:spPr>
        <p:txBody>
          <a:bodyPr wrap="square">
            <a:spAutoFit/>
          </a:bodyPr>
          <a:lstStyle/>
          <a:p>
            <a:pPr marL="12700">
              <a:spcBef>
                <a:spcPts val="100"/>
              </a:spcBef>
              <a:defRPr/>
            </a:pPr>
            <a:r>
              <a:rPr lang="en-IN" sz="1400" b="1" kern="0" dirty="0">
                <a:solidFill>
                  <a:schemeClr val="bg1"/>
                </a:solidFill>
                <a:effectLst>
                  <a:glow rad="228600">
                    <a:schemeClr val="accent6">
                      <a:satMod val="175000"/>
                      <a:alpha val="40000"/>
                    </a:schemeClr>
                  </a:glow>
                </a:effectLst>
                <a:latin typeface="Times New Roman"/>
                <a:cs typeface="Times New Roman"/>
              </a:rPr>
              <a:t>Software</a:t>
            </a:r>
            <a:r>
              <a:rPr lang="en-IN" sz="1400" b="1" kern="0" spc="-45" dirty="0">
                <a:solidFill>
                  <a:schemeClr val="bg1"/>
                </a:solidFill>
                <a:effectLst>
                  <a:glow rad="228600">
                    <a:schemeClr val="accent6">
                      <a:satMod val="175000"/>
                      <a:alpha val="40000"/>
                    </a:schemeClr>
                  </a:glow>
                </a:effectLst>
                <a:latin typeface="Times New Roman"/>
                <a:cs typeface="Times New Roman"/>
              </a:rPr>
              <a:t> </a:t>
            </a:r>
            <a:r>
              <a:rPr lang="en-IN" sz="1400" b="1" kern="0" spc="-10" dirty="0">
                <a:solidFill>
                  <a:schemeClr val="bg1"/>
                </a:solidFill>
                <a:effectLst>
                  <a:glow rad="228600">
                    <a:schemeClr val="accent6">
                      <a:satMod val="175000"/>
                      <a:alpha val="40000"/>
                    </a:schemeClr>
                  </a:glow>
                </a:effectLst>
                <a:latin typeface="Times New Roman"/>
                <a:cs typeface="Times New Roman"/>
              </a:rPr>
              <a:t>Requirements:</a:t>
            </a:r>
            <a:endParaRPr lang="en-IN" sz="1400" kern="0" dirty="0">
              <a:solidFill>
                <a:schemeClr val="bg1"/>
              </a:solidFill>
              <a:effectLst>
                <a:glow rad="228600">
                  <a:schemeClr val="accent6">
                    <a:satMod val="175000"/>
                    <a:alpha val="40000"/>
                  </a:schemeClr>
                </a:glow>
              </a:effectLst>
              <a:latin typeface="Times New Roman"/>
              <a:cs typeface="Times New Roman"/>
            </a:endParaRPr>
          </a:p>
        </p:txBody>
      </p:sp>
      <p:sp>
        <p:nvSpPr>
          <p:cNvPr id="5" name="TextBox 4">
            <a:extLst>
              <a:ext uri="{FF2B5EF4-FFF2-40B4-BE49-F238E27FC236}">
                <a16:creationId xmlns:a16="http://schemas.microsoft.com/office/drawing/2014/main" id="{2538F8F2-6C76-4A2D-B97C-BB8A65019B91}"/>
              </a:ext>
            </a:extLst>
          </p:cNvPr>
          <p:cNvSpPr txBox="1"/>
          <p:nvPr/>
        </p:nvSpPr>
        <p:spPr>
          <a:xfrm>
            <a:off x="1212490" y="891995"/>
            <a:ext cx="5517518" cy="3453446"/>
          </a:xfrm>
          <a:prstGeom prst="rect">
            <a:avLst/>
          </a:prstGeom>
          <a:noFill/>
        </p:spPr>
        <p:txBody>
          <a:bodyPr wrap="square">
            <a:spAutoFit/>
          </a:bodyPr>
          <a:lstStyle/>
          <a:p>
            <a:pPr marL="240665" indent="-228600" eaLnBrk="1" fontAlgn="auto" hangingPunct="1">
              <a:lnSpc>
                <a:spcPct val="150000"/>
              </a:lnSpc>
              <a:spcBef>
                <a:spcPts val="850"/>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Operating</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System:</a:t>
            </a:r>
            <a:r>
              <a:rPr lang="en-IN" sz="1200" kern="0" spc="-3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Windows</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Linux</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spc="-20" dirty="0">
                <a:solidFill>
                  <a:schemeClr val="bg1"/>
                </a:solidFill>
                <a:effectLst>
                  <a:glow rad="101600">
                    <a:schemeClr val="accent6">
                      <a:satMod val="175000"/>
                      <a:alpha val="40000"/>
                    </a:schemeClr>
                  </a:glow>
                </a:effectLst>
                <a:latin typeface="Times New Roman"/>
                <a:cs typeface="Times New Roman"/>
              </a:rPr>
              <a:t>macOS</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40"/>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Frontend:</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HTML,</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CSS,</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Java</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Script</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55"/>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Backend:</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Python</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55"/>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Framework:</a:t>
            </a:r>
            <a:r>
              <a:rPr lang="en-IN" sz="1200" kern="0" spc="-2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React</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spc="-25" dirty="0">
                <a:solidFill>
                  <a:schemeClr val="bg1"/>
                </a:solidFill>
                <a:effectLst>
                  <a:glow rad="101600">
                    <a:schemeClr val="accent6">
                      <a:satMod val="175000"/>
                      <a:alpha val="40000"/>
                    </a:schemeClr>
                  </a:glow>
                </a:effectLst>
                <a:latin typeface="Times New Roman"/>
                <a:cs typeface="Times New Roman"/>
              </a:rPr>
              <a:t>JS, Flask</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50"/>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Database:</a:t>
            </a:r>
            <a:r>
              <a:rPr lang="en-IN" sz="1200" kern="0" spc="-3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MySQL</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40"/>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API</a:t>
            </a:r>
            <a:r>
              <a:rPr lang="en-IN" sz="1200" kern="0" spc="-5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Testing</a:t>
            </a:r>
            <a:r>
              <a:rPr lang="en-IN" sz="1200" kern="0" spc="-50"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Tool:</a:t>
            </a:r>
            <a:r>
              <a:rPr lang="en-IN" sz="1200" kern="0" spc="-25" dirty="0">
                <a:solidFill>
                  <a:schemeClr val="bg1"/>
                </a:solidFill>
                <a:effectLst>
                  <a:glow rad="101600">
                    <a:schemeClr val="accent6">
                      <a:satMod val="175000"/>
                      <a:alpha val="40000"/>
                    </a:schemeClr>
                  </a:glow>
                </a:effectLst>
                <a:latin typeface="Times New Roman"/>
                <a:cs typeface="Times New Roman"/>
              </a:rPr>
              <a:t> </a:t>
            </a:r>
            <a:r>
              <a:rPr lang="en-IN" sz="1200" kern="0" spc="-10" dirty="0">
                <a:solidFill>
                  <a:schemeClr val="bg1"/>
                </a:solidFill>
                <a:effectLst>
                  <a:glow rad="101600">
                    <a:schemeClr val="accent6">
                      <a:satMod val="175000"/>
                      <a:alpha val="40000"/>
                    </a:schemeClr>
                  </a:glow>
                </a:effectLst>
                <a:latin typeface="Times New Roman"/>
                <a:cs typeface="Times New Roman"/>
              </a:rPr>
              <a:t>Postman</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55"/>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IDE:</a:t>
            </a:r>
            <a:r>
              <a:rPr lang="en-IN" sz="1200" kern="0" spc="-3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VS</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spc="-20" dirty="0">
                <a:solidFill>
                  <a:schemeClr val="bg1"/>
                </a:solidFill>
                <a:effectLst>
                  <a:glow rad="101600">
                    <a:schemeClr val="accent6">
                      <a:satMod val="175000"/>
                      <a:alpha val="40000"/>
                    </a:schemeClr>
                  </a:glow>
                </a:effectLst>
                <a:latin typeface="Times New Roman"/>
                <a:cs typeface="Times New Roman"/>
              </a:rPr>
              <a:t>Code</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50"/>
              </a:spcBef>
              <a:spcAft>
                <a:spcPts val="0"/>
              </a:spcAft>
              <a:buSzPct val="83333"/>
              <a:buFont typeface="Symbol"/>
              <a:buChar char=""/>
              <a:tabLst>
                <a:tab pos="240665" algn="l"/>
                <a:tab pos="241300" algn="l"/>
              </a:tabLst>
              <a:defRPr/>
            </a:pPr>
            <a:r>
              <a:rPr lang="en-IN" sz="1200" kern="0" spc="-20" dirty="0">
                <a:solidFill>
                  <a:schemeClr val="bg1"/>
                </a:solidFill>
                <a:effectLst>
                  <a:glow rad="101600">
                    <a:schemeClr val="accent6">
                      <a:satMod val="175000"/>
                      <a:alpha val="40000"/>
                    </a:schemeClr>
                  </a:glow>
                </a:effectLst>
                <a:latin typeface="Times New Roman"/>
                <a:cs typeface="Times New Roman"/>
              </a:rPr>
              <a:t>Web</a:t>
            </a:r>
            <a:r>
              <a:rPr lang="en-IN" sz="1200" kern="0" spc="-2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Browser:</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Chrome</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Edge</a:t>
            </a:r>
            <a:r>
              <a:rPr lang="en-IN" sz="1200" kern="0" spc="-1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a:t>
            </a:r>
            <a:r>
              <a:rPr lang="en-IN" sz="1200" kern="0" spc="-10" dirty="0">
                <a:solidFill>
                  <a:schemeClr val="bg1"/>
                </a:solidFill>
                <a:effectLst>
                  <a:glow rad="101600">
                    <a:schemeClr val="accent6">
                      <a:satMod val="175000"/>
                      <a:alpha val="40000"/>
                    </a:schemeClr>
                  </a:glow>
                </a:effectLst>
                <a:latin typeface="Times New Roman"/>
                <a:cs typeface="Times New Roman"/>
              </a:rPr>
              <a:t> Firefox</a:t>
            </a:r>
            <a:endParaRPr lang="en-IN" sz="1200" kern="0" dirty="0">
              <a:solidFill>
                <a:schemeClr val="bg1"/>
              </a:solidFill>
              <a:effectLst>
                <a:glow rad="101600">
                  <a:schemeClr val="accent6">
                    <a:satMod val="175000"/>
                    <a:alpha val="40000"/>
                  </a:schemeClr>
                </a:glow>
              </a:effectLst>
              <a:latin typeface="Times New Roman"/>
              <a:cs typeface="Times New Roman"/>
            </a:endParaRPr>
          </a:p>
          <a:p>
            <a:pPr marL="240665" indent="-228600" eaLnBrk="1" fontAlgn="auto" hangingPunct="1">
              <a:lnSpc>
                <a:spcPct val="150000"/>
              </a:lnSpc>
              <a:spcBef>
                <a:spcPts val="855"/>
              </a:spcBef>
              <a:spcAft>
                <a:spcPts val="0"/>
              </a:spcAft>
              <a:buSzPct val="83333"/>
              <a:buFont typeface="Symbol"/>
              <a:buChar char=""/>
              <a:tabLst>
                <a:tab pos="240665" algn="l"/>
                <a:tab pos="241300" algn="l"/>
              </a:tabLst>
              <a:defRPr/>
            </a:pPr>
            <a:r>
              <a:rPr lang="en-IN" sz="1200" kern="0" dirty="0">
                <a:solidFill>
                  <a:schemeClr val="bg1"/>
                </a:solidFill>
                <a:effectLst>
                  <a:glow rad="101600">
                    <a:schemeClr val="accent6">
                      <a:satMod val="175000"/>
                      <a:alpha val="40000"/>
                    </a:schemeClr>
                  </a:glow>
                </a:effectLst>
                <a:latin typeface="Times New Roman"/>
                <a:cs typeface="Times New Roman"/>
              </a:rPr>
              <a:t>Node</a:t>
            </a:r>
            <a:r>
              <a:rPr lang="en-IN" sz="1200" kern="0" spc="-20"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Package</a:t>
            </a:r>
            <a:r>
              <a:rPr lang="en-IN" sz="1200" kern="0" spc="-15" dirty="0">
                <a:solidFill>
                  <a:schemeClr val="bg1"/>
                </a:solidFill>
                <a:effectLst>
                  <a:glow rad="101600">
                    <a:schemeClr val="accent6">
                      <a:satMod val="175000"/>
                      <a:alpha val="40000"/>
                    </a:schemeClr>
                  </a:glow>
                </a:effectLst>
                <a:latin typeface="Times New Roman"/>
                <a:cs typeface="Times New Roman"/>
              </a:rPr>
              <a:t> </a:t>
            </a:r>
            <a:r>
              <a:rPr lang="en-IN" sz="1200" kern="0" dirty="0">
                <a:solidFill>
                  <a:schemeClr val="bg1"/>
                </a:solidFill>
                <a:effectLst>
                  <a:glow rad="101600">
                    <a:schemeClr val="accent6">
                      <a:satMod val="175000"/>
                      <a:alpha val="40000"/>
                    </a:schemeClr>
                  </a:glow>
                </a:effectLst>
                <a:latin typeface="Times New Roman"/>
                <a:cs typeface="Times New Roman"/>
              </a:rPr>
              <a:t>Manager</a:t>
            </a:r>
            <a:r>
              <a:rPr lang="en-IN" sz="1200" kern="0" spc="-5" dirty="0">
                <a:solidFill>
                  <a:schemeClr val="bg1"/>
                </a:solidFill>
                <a:effectLst>
                  <a:glow rad="101600">
                    <a:schemeClr val="accent6">
                      <a:satMod val="175000"/>
                      <a:alpha val="40000"/>
                    </a:schemeClr>
                  </a:glow>
                </a:effectLst>
                <a:latin typeface="Times New Roman"/>
                <a:cs typeface="Times New Roman"/>
              </a:rPr>
              <a:t> </a:t>
            </a:r>
            <a:r>
              <a:rPr lang="en-IN" sz="1200" kern="0" spc="-20" dirty="0">
                <a:solidFill>
                  <a:schemeClr val="bg1"/>
                </a:solidFill>
                <a:effectLst>
                  <a:glow rad="101600">
                    <a:schemeClr val="accent6">
                      <a:satMod val="175000"/>
                      <a:alpha val="40000"/>
                    </a:schemeClr>
                  </a:glow>
                </a:effectLst>
                <a:latin typeface="Times New Roman"/>
                <a:cs typeface="Times New Roman"/>
              </a:rPr>
              <a:t>(NPM)</a:t>
            </a:r>
            <a:endParaRPr lang="en-IN" sz="1200" dirty="0">
              <a:solidFill>
                <a:schemeClr val="bg1"/>
              </a:solidFill>
              <a:effectLst>
                <a:glow rad="101600">
                  <a:schemeClr val="accent6">
                    <a:satMod val="175000"/>
                    <a:alpha val="40000"/>
                  </a:schemeClr>
                </a:glow>
              </a:effectLst>
            </a:endParaRPr>
          </a:p>
        </p:txBody>
      </p:sp>
    </p:spTree>
    <p:extLst>
      <p:ext uri="{BB962C8B-B14F-4D97-AF65-F5344CB8AC3E}">
        <p14:creationId xmlns:p14="http://schemas.microsoft.com/office/powerpoint/2010/main" val="110529285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5D89B1-DAD5-A162-A099-14F84FCD749F}"/>
              </a:ext>
            </a:extLst>
          </p:cNvPr>
          <p:cNvSpPr txBox="1"/>
          <p:nvPr/>
        </p:nvSpPr>
        <p:spPr>
          <a:xfrm>
            <a:off x="296260" y="43248"/>
            <a:ext cx="4587498" cy="307777"/>
          </a:xfrm>
          <a:prstGeom prst="rect">
            <a:avLst/>
          </a:prstGeom>
          <a:noFill/>
        </p:spPr>
        <p:txBody>
          <a:bodyPr wrap="square">
            <a:spAutoFit/>
          </a:bodyPr>
          <a:lstStyle/>
          <a:p>
            <a:pPr marL="12700">
              <a:spcBef>
                <a:spcPts val="940"/>
              </a:spcBef>
              <a:defRPr/>
            </a:pPr>
            <a:r>
              <a:rPr lang="en-IN" sz="1400" b="1" kern="0" dirty="0">
                <a:ln w="10160">
                  <a:solidFill>
                    <a:schemeClr val="accent5"/>
                  </a:solidFill>
                  <a:prstDash val="solid"/>
                </a:ln>
                <a:solidFill>
                  <a:srgbClr val="FFFFFF"/>
                </a:solidFill>
                <a:effectLst>
                  <a:outerShdw blurRad="38100" dist="38100" dir="2700000" algn="tl">
                    <a:srgbClr val="000000">
                      <a:alpha val="43137"/>
                    </a:srgbClr>
                  </a:outerShdw>
                </a:effectLst>
                <a:latin typeface="Times New Roman"/>
                <a:cs typeface="Times New Roman"/>
              </a:rPr>
              <a:t>Architecture of Project:</a:t>
            </a:r>
          </a:p>
        </p:txBody>
      </p:sp>
      <p:pic>
        <p:nvPicPr>
          <p:cNvPr id="2052" name="Picture 4" descr="A high-level system architecture of the proposed blockchain-based... |  Download Scientific Diagram">
            <a:extLst>
              <a:ext uri="{FF2B5EF4-FFF2-40B4-BE49-F238E27FC236}">
                <a16:creationId xmlns:a16="http://schemas.microsoft.com/office/drawing/2014/main" id="{2B20792B-0218-110A-880F-20FD2FE867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067" y="351025"/>
            <a:ext cx="8323865" cy="452426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2411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808398-3A71-49C7-6B85-4FB4A6F760AD}"/>
              </a:ext>
            </a:extLst>
          </p:cNvPr>
          <p:cNvSpPr txBox="1"/>
          <p:nvPr/>
        </p:nvSpPr>
        <p:spPr>
          <a:xfrm>
            <a:off x="296260" y="126853"/>
            <a:ext cx="4587498" cy="307777"/>
          </a:xfrm>
          <a:prstGeom prst="rect">
            <a:avLst/>
          </a:prstGeom>
          <a:noFill/>
        </p:spPr>
        <p:txBody>
          <a:bodyPr wrap="square">
            <a:spAutoFit/>
          </a:bodyPr>
          <a:lstStyle/>
          <a:p>
            <a:pPr marL="12700">
              <a:spcBef>
                <a:spcPts val="940"/>
              </a:spcBef>
              <a:defRPr/>
            </a:pPr>
            <a:r>
              <a:rPr lang="en-IN" sz="1400" b="1" kern="0" dirty="0">
                <a:ln w="10160">
                  <a:solidFill>
                    <a:schemeClr val="accent5"/>
                  </a:solidFill>
                  <a:prstDash val="solid"/>
                </a:ln>
                <a:solidFill>
                  <a:srgbClr val="FFFFFF"/>
                </a:solidFill>
                <a:effectLst>
                  <a:outerShdw blurRad="38100" dist="38100" dir="2700000" algn="tl">
                    <a:srgbClr val="000000">
                      <a:alpha val="43137"/>
                    </a:srgbClr>
                  </a:outerShdw>
                </a:effectLst>
                <a:latin typeface="Times New Roman"/>
                <a:cs typeface="Times New Roman"/>
              </a:rPr>
              <a:t>Block of Project:</a:t>
            </a:r>
          </a:p>
        </p:txBody>
      </p:sp>
      <p:pic>
        <p:nvPicPr>
          <p:cNvPr id="12" name="Picture 11">
            <a:extLst>
              <a:ext uri="{FF2B5EF4-FFF2-40B4-BE49-F238E27FC236}">
                <a16:creationId xmlns:a16="http://schemas.microsoft.com/office/drawing/2014/main" id="{489EB264-7839-009B-4454-1BCEC94945EE}"/>
              </a:ext>
            </a:extLst>
          </p:cNvPr>
          <p:cNvPicPr>
            <a:picLocks noChangeAspect="1"/>
          </p:cNvPicPr>
          <p:nvPr/>
        </p:nvPicPr>
        <p:blipFill>
          <a:blip r:embed="rId2" cstate="print">
            <a:extLst>
              <a:ext uri="{28A0092B-C50C-407E-A947-70E740481C1C}">
                <a14:useLocalDpi xmlns:a14="http://schemas.microsoft.com/office/drawing/2010/main" val="0"/>
              </a:ext>
            </a:extLst>
          </a:blip>
          <a:srcRect l="1755" r="1755"/>
          <a:stretch/>
        </p:blipFill>
        <p:spPr>
          <a:xfrm>
            <a:off x="184019" y="486075"/>
            <a:ext cx="8775962" cy="43159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98441056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23A01C-8A37-0FF4-376C-D4ED9E522905}"/>
              </a:ext>
            </a:extLst>
          </p:cNvPr>
          <p:cNvSpPr txBox="1"/>
          <p:nvPr/>
        </p:nvSpPr>
        <p:spPr>
          <a:xfrm>
            <a:off x="448965" y="450452"/>
            <a:ext cx="4587498" cy="307777"/>
          </a:xfrm>
          <a:prstGeom prst="rect">
            <a:avLst/>
          </a:prstGeom>
          <a:noFill/>
        </p:spPr>
        <p:txBody>
          <a:bodyPr wrap="square">
            <a:spAutoFit/>
          </a:bodyPr>
          <a:lstStyle/>
          <a:p>
            <a:pPr marL="12700">
              <a:spcBef>
                <a:spcPts val="940"/>
              </a:spcBef>
              <a:defRPr/>
            </a:pPr>
            <a:r>
              <a:rPr lang="en-IN" sz="1400" b="1" kern="0" dirty="0">
                <a:ln w="10160">
                  <a:solidFill>
                    <a:schemeClr val="accent5"/>
                  </a:solidFill>
                  <a:prstDash val="solid"/>
                </a:ln>
                <a:solidFill>
                  <a:srgbClr val="FFFFFF"/>
                </a:solidFill>
                <a:effectLst>
                  <a:outerShdw blurRad="38100" dist="38100" dir="2700000" algn="tl">
                    <a:srgbClr val="000000">
                      <a:alpha val="43137"/>
                    </a:srgbClr>
                  </a:outerShdw>
                </a:effectLst>
                <a:latin typeface="Times New Roman"/>
                <a:cs typeface="Times New Roman"/>
              </a:rPr>
              <a:t>List Out The Modules Used:</a:t>
            </a:r>
          </a:p>
        </p:txBody>
      </p:sp>
      <p:sp>
        <p:nvSpPr>
          <p:cNvPr id="5" name="TextBox 4">
            <a:extLst>
              <a:ext uri="{FF2B5EF4-FFF2-40B4-BE49-F238E27FC236}">
                <a16:creationId xmlns:a16="http://schemas.microsoft.com/office/drawing/2014/main" id="{CB2EC912-127B-E67A-6B51-735F3912695A}"/>
              </a:ext>
            </a:extLst>
          </p:cNvPr>
          <p:cNvSpPr txBox="1"/>
          <p:nvPr/>
        </p:nvSpPr>
        <p:spPr>
          <a:xfrm>
            <a:off x="754375" y="894513"/>
            <a:ext cx="4587498" cy="307777"/>
          </a:xfrm>
          <a:prstGeom prst="rect">
            <a:avLst/>
          </a:prstGeom>
          <a:noFill/>
        </p:spPr>
        <p:txBody>
          <a:bodyPr wrap="square">
            <a:spAutoFit/>
          </a:bodyPr>
          <a:lstStyle/>
          <a:p>
            <a:pPr marL="342900" indent="-342900">
              <a:buAutoNum type="arabicParenR"/>
            </a:pPr>
            <a:r>
              <a:rPr lang="en-US" sz="1400" b="1" dirty="0">
                <a:solidFill>
                  <a:schemeClr val="bg1"/>
                </a:solidFill>
                <a:effectLst>
                  <a:glow rad="139700">
                    <a:schemeClr val="accent6">
                      <a:satMod val="17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Admin Module:</a:t>
            </a:r>
          </a:p>
        </p:txBody>
      </p:sp>
      <p:sp>
        <p:nvSpPr>
          <p:cNvPr id="7" name="TextBox 6">
            <a:extLst>
              <a:ext uri="{FF2B5EF4-FFF2-40B4-BE49-F238E27FC236}">
                <a16:creationId xmlns:a16="http://schemas.microsoft.com/office/drawing/2014/main" id="{039A938C-B4A0-3ACA-862A-BE88BAD33272}"/>
              </a:ext>
            </a:extLst>
          </p:cNvPr>
          <p:cNvSpPr txBox="1"/>
          <p:nvPr/>
        </p:nvSpPr>
        <p:spPr>
          <a:xfrm>
            <a:off x="1212490" y="1197405"/>
            <a:ext cx="4587498" cy="1998111"/>
          </a:xfrm>
          <a:prstGeom prst="rect">
            <a:avLst/>
          </a:prstGeom>
          <a:noFill/>
        </p:spPr>
        <p:txBody>
          <a:bodyPr wrap="square">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Manage donor and hospital registrations</a:t>
            </a:r>
            <a:r>
              <a:rPr kumimoji="0" lang="en-US" altLang="en-US" sz="1200" b="0" i="0" u="none" strike="noStrike" cap="none" normalizeH="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View and update donor details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Approve or remove registered users</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Monitor organ donation requests and system activities.</a:t>
            </a:r>
            <a:endParaRPr lang="en-IN" sz="1200" dirty="0">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408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33BA77-87EC-BE12-F61D-8A4023728A4F}"/>
              </a:ext>
            </a:extLst>
          </p:cNvPr>
          <p:cNvSpPr txBox="1"/>
          <p:nvPr/>
        </p:nvSpPr>
        <p:spPr>
          <a:xfrm>
            <a:off x="440749" y="398403"/>
            <a:ext cx="4587498" cy="307777"/>
          </a:xfrm>
          <a:prstGeom prst="rect">
            <a:avLst/>
          </a:prstGeom>
          <a:noFill/>
        </p:spPr>
        <p:txBody>
          <a:bodyPr wrap="square">
            <a:spAutoFit/>
          </a:bodyPr>
          <a:lstStyle/>
          <a:p>
            <a:r>
              <a:rPr lang="en-US" sz="1400" b="1" dirty="0">
                <a:solidFill>
                  <a:schemeClr val="bg1"/>
                </a:solidFill>
                <a:effectLst>
                  <a:glow rad="228600">
                    <a:schemeClr val="accent6">
                      <a:satMod val="17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Donor Module:</a:t>
            </a:r>
            <a:endParaRPr lang="en-IN" sz="14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E8A6B1B-0B32-EEE6-CAB4-2070D6E3DDED}"/>
              </a:ext>
            </a:extLst>
          </p:cNvPr>
          <p:cNvSpPr txBox="1"/>
          <p:nvPr/>
        </p:nvSpPr>
        <p:spPr>
          <a:xfrm>
            <a:off x="1059785" y="706180"/>
            <a:ext cx="4587498" cy="1444113"/>
          </a:xfrm>
          <a:prstGeom prst="rect">
            <a:avLst/>
          </a:prstGeom>
          <a:noFill/>
        </p:spPr>
        <p:txBody>
          <a:bodyPr wrap="square">
            <a:spAutoFit/>
          </a:bodyPr>
          <a:lstStyle/>
          <a:p>
            <a:pPr marL="171450" indent="-171450" defTabSz="914400" eaLnBrk="0" fontAlgn="base" hangingPunct="0">
              <a:lnSpc>
                <a:spcPct val="150000"/>
              </a:lnSpc>
              <a:spcBef>
                <a:spcPct val="0"/>
              </a:spcBef>
              <a:spcAft>
                <a:spcPct val="0"/>
              </a:spcAft>
              <a:buClrTx/>
              <a:buSzTx/>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Donors can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register and create an account</a:t>
            </a: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lnSpc>
                <a:spcPct val="150000"/>
              </a:lnSpc>
              <a:spcBef>
                <a:spcPct val="0"/>
              </a:spcBef>
              <a:spcAft>
                <a:spcPct val="0"/>
              </a:spcAft>
              <a:buClrTx/>
              <a:buSzTx/>
              <a:buFont typeface="Arial" panose="020B0604020202020204" pitchFamily="34" charset="0"/>
              <a:buChar char="•"/>
            </a:pP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lnSpc>
                <a:spcPct val="150000"/>
              </a:lnSpc>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Update profile and donation information</a:t>
            </a: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lnSpc>
                <a:spcPct val="150000"/>
              </a:lnSpc>
              <a:spcBef>
                <a:spcPct val="0"/>
              </a:spcBef>
              <a:spcAft>
                <a:spcPct val="0"/>
              </a:spcAft>
              <a:buClrTx/>
              <a:buSzTx/>
              <a:buFont typeface="Arial" panose="020B0604020202020204" pitchFamily="34" charset="0"/>
              <a:buChar char="•"/>
            </a:pP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lnSpc>
                <a:spcPct val="150000"/>
              </a:lnSpc>
              <a:spcBef>
                <a:spcPct val="0"/>
              </a:spcBef>
              <a:spcAft>
                <a:spcPct val="0"/>
              </a:spcAft>
              <a:buClrTx/>
              <a:buSzTx/>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View requests from hospitals or patients</a:t>
            </a: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9C12DFD-7103-BCD9-791E-7D6A1016CCC4}"/>
              </a:ext>
            </a:extLst>
          </p:cNvPr>
          <p:cNvSpPr txBox="1"/>
          <p:nvPr/>
        </p:nvSpPr>
        <p:spPr>
          <a:xfrm>
            <a:off x="440749" y="2511345"/>
            <a:ext cx="4587498" cy="307777"/>
          </a:xfrm>
          <a:prstGeom prst="rect">
            <a:avLst/>
          </a:prstGeom>
          <a:noFill/>
        </p:spPr>
        <p:txBody>
          <a:bodyPr wrap="square">
            <a:spAutoFit/>
          </a:bodyPr>
          <a:lstStyle/>
          <a:p>
            <a:r>
              <a:rPr lang="en-US" sz="1400" b="1" dirty="0">
                <a:solidFill>
                  <a:schemeClr val="bg1"/>
                </a:solidFill>
                <a:effectLst>
                  <a:glow rad="228600">
                    <a:schemeClr val="accent6">
                      <a:satMod val="17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Hospital Module:</a:t>
            </a:r>
            <a:endParaRPr lang="en-IN" sz="14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697C624-E4B3-0DDC-19FC-54E0AA3B8000}"/>
              </a:ext>
            </a:extLst>
          </p:cNvPr>
          <p:cNvSpPr txBox="1"/>
          <p:nvPr/>
        </p:nvSpPr>
        <p:spPr>
          <a:xfrm>
            <a:off x="1059785" y="2819287"/>
            <a:ext cx="4587498" cy="1721112"/>
          </a:xfrm>
          <a:prstGeom prst="rect">
            <a:avLst/>
          </a:prstGeom>
          <a:noFill/>
        </p:spPr>
        <p:txBody>
          <a:bodyPr wrap="square">
            <a:spAutoFit/>
          </a:bodyPr>
          <a:lstStyle/>
          <a:p>
            <a:pPr marL="171450" lvl="0" indent="-171450" defTabSz="914400" eaLnBrk="0" fontAlgn="base" hangingPunct="0">
              <a:lnSpc>
                <a:spcPct val="150000"/>
              </a:lnSpc>
              <a:spcBef>
                <a:spcPct val="0"/>
              </a:spcBef>
              <a:spcAft>
                <a:spcPct val="0"/>
              </a:spcAft>
              <a:buClrTx/>
              <a:buSzTx/>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Hospitals can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register and login to the system</a:t>
            </a:r>
            <a:r>
              <a:rPr kumimoji="0" lang="en-US" altLang="en-US" sz="1200" b="0" i="0" u="none" strike="noStrike" cap="none" normalizeH="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a:t>
            </a: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lvl="0" indent="-171450" defTabSz="914400" eaLnBrk="0" fontAlgn="base" hangingPunct="0">
              <a:lnSpc>
                <a:spcPct val="150000"/>
              </a:lnSpc>
              <a:spcBef>
                <a:spcPct val="0"/>
              </a:spcBef>
              <a:spcAft>
                <a:spcPct val="0"/>
              </a:spcAft>
              <a:buClrTx/>
              <a:buSzTx/>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Search for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available organ donors</a:t>
            </a: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based on requirements</a:t>
            </a:r>
          </a:p>
          <a:p>
            <a:pPr marL="171450" lvl="0" indent="-171450" defTabSz="914400" eaLnBrk="0" fontAlgn="base" hangingPunct="0">
              <a:lnSpc>
                <a:spcPct val="150000"/>
              </a:lnSpc>
              <a:spcBef>
                <a:spcPct val="0"/>
              </a:spcBef>
              <a:spcAft>
                <a:spcPct val="0"/>
              </a:spcAft>
              <a:buClrTx/>
              <a:buSzTx/>
              <a:buFont typeface="Arial" panose="020B0604020202020204" pitchFamily="34" charset="0"/>
              <a:buChar char="•"/>
            </a:pPr>
            <a:endPar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200" dirty="0">
                <a:solidFill>
                  <a:schemeClr val="bg1"/>
                </a:solidFill>
                <a:effectLst>
                  <a:glow rad="101600">
                    <a:schemeClr val="accent6">
                      <a:satMod val="175000"/>
                      <a:alpha val="40000"/>
                    </a:schemeClr>
                  </a:glow>
                </a:effectLst>
                <a:latin typeface="Times New Roman" panose="02020603050405020304" pitchFamily="18" charset="0"/>
                <a:cs typeface="Times New Roman" panose="02020603050405020304" pitchFamily="18" charset="0"/>
              </a:rPr>
              <a:t>Track Organ Transfer status.</a:t>
            </a:r>
            <a:endPar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9809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F8D29F-1F01-2C23-EBD4-1EF2B9E32343}"/>
              </a:ext>
            </a:extLst>
          </p:cNvPr>
          <p:cNvSpPr txBox="1"/>
          <p:nvPr/>
        </p:nvSpPr>
        <p:spPr>
          <a:xfrm>
            <a:off x="601670" y="433880"/>
            <a:ext cx="4587498" cy="307777"/>
          </a:xfrm>
          <a:prstGeom prst="rect">
            <a:avLst/>
          </a:prstGeom>
          <a:noFill/>
        </p:spPr>
        <p:txBody>
          <a:bodyPr wrap="square">
            <a:spAutoFit/>
          </a:bodyPr>
          <a:lstStyle/>
          <a:p>
            <a:r>
              <a:rPr lang="en-US" sz="1400" b="1" dirty="0">
                <a:solidFill>
                  <a:schemeClr val="bg1"/>
                </a:solidFill>
                <a:effectLst>
                  <a:glow rad="228600">
                    <a:schemeClr val="accent6">
                      <a:satMod val="17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4) Patient Module: </a:t>
            </a:r>
            <a:endParaRPr lang="en-IN" sz="14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086248F-4E89-AD18-CCCF-0A95AF0C67DD}"/>
              </a:ext>
            </a:extLst>
          </p:cNvPr>
          <p:cNvSpPr txBox="1"/>
          <p:nvPr/>
        </p:nvSpPr>
        <p:spPr>
          <a:xfrm>
            <a:off x="1059785" y="741657"/>
            <a:ext cx="4587498" cy="1384995"/>
          </a:xfrm>
          <a:prstGeom prst="rect">
            <a:avLst/>
          </a:prstGeom>
          <a:noFill/>
        </p:spPr>
        <p:txBody>
          <a:bodyPr wrap="square">
            <a:spAutoFit/>
          </a:bodyPr>
          <a:lstStyle/>
          <a:p>
            <a:pPr marL="171450" indent="-171450" defTabSz="914400" eaLnBrk="0" fontAlgn="base" hangingPunct="0">
              <a:spcBef>
                <a:spcPct val="0"/>
              </a:spcBef>
              <a:spcAft>
                <a:spcPct val="0"/>
              </a:spcAft>
              <a:buClrTx/>
              <a:buSzTx/>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Patients can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search for organ donors</a:t>
            </a: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spcBef>
                <a:spcPct val="0"/>
              </a:spcBef>
              <a:spcAft>
                <a:spcPct val="0"/>
              </a:spcAft>
              <a:buClrTx/>
              <a:buSzTx/>
              <a:buFont typeface="Arial" panose="020B0604020202020204" pitchFamily="34" charset="0"/>
              <a:buChar char="•"/>
            </a:pP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View donor availability</a:t>
            </a:r>
          </a:p>
          <a:p>
            <a:pPr marL="171450" indent="-171450" defTabSz="914400" eaLnBrk="0" fontAlgn="base" hangingPunct="0">
              <a:spcBef>
                <a:spcPct val="0"/>
              </a:spcBef>
              <a:spcAft>
                <a:spcPct val="0"/>
              </a:spcAft>
              <a:buClrTx/>
              <a:buSzTx/>
              <a:buFont typeface="Arial" panose="020B0604020202020204" pitchFamily="34" charset="0"/>
              <a:buChar char="•"/>
            </a:pP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Submit organ request details</a:t>
            </a: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spcBef>
                <a:spcPct val="0"/>
              </a:spcBef>
              <a:spcAft>
                <a:spcPct val="0"/>
              </a:spcAft>
              <a:buClrTx/>
              <a:buSzTx/>
              <a:buFont typeface="Arial" panose="020B0604020202020204" pitchFamily="34" charset="0"/>
              <a:buChar char="•"/>
            </a:pP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Check request status</a:t>
            </a:r>
            <a:endPar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190B638-B0EA-09A9-BA5A-0481A9DF23C6}"/>
              </a:ext>
            </a:extLst>
          </p:cNvPr>
          <p:cNvSpPr txBox="1"/>
          <p:nvPr/>
        </p:nvSpPr>
        <p:spPr>
          <a:xfrm>
            <a:off x="601670" y="2434429"/>
            <a:ext cx="4587498" cy="307777"/>
          </a:xfrm>
          <a:prstGeom prst="rect">
            <a:avLst/>
          </a:prstGeom>
          <a:noFill/>
        </p:spPr>
        <p:txBody>
          <a:bodyPr wrap="square">
            <a:spAutoFit/>
          </a:bodyPr>
          <a:lstStyle/>
          <a:p>
            <a:r>
              <a:rPr lang="en-US" sz="1400" b="1" dirty="0">
                <a:solidFill>
                  <a:schemeClr val="bg1"/>
                </a:solidFill>
                <a:effectLst>
                  <a:glow rad="228600">
                    <a:schemeClr val="accent6">
                      <a:satMod val="17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 Of The System:</a:t>
            </a:r>
            <a:endParaRPr lang="en-IN" sz="14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C5A49AB-124C-19A4-495B-93E9B4F6F1DC}"/>
              </a:ext>
            </a:extLst>
          </p:cNvPr>
          <p:cNvSpPr txBox="1"/>
          <p:nvPr/>
        </p:nvSpPr>
        <p:spPr>
          <a:xfrm>
            <a:off x="1059785" y="2724455"/>
            <a:ext cx="4587498" cy="1384995"/>
          </a:xfrm>
          <a:prstGeom prst="rect">
            <a:avLst/>
          </a:prstGeom>
          <a:noFill/>
        </p:spPr>
        <p:txBody>
          <a:bodyPr wrap="square">
            <a:spAutoFit/>
          </a:bodyPr>
          <a:lstStyle/>
          <a:p>
            <a:pPr marL="171450" lvl="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Centralized Database</a:t>
            </a:r>
            <a:endParaRPr kumimoji="0" lang="en-US" altLang="en-US" sz="1200" b="0" i="0" u="none" strike="noStrike" cap="none" normalizeH="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lvl="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Easy Registration</a:t>
            </a:r>
          </a:p>
          <a:p>
            <a:pPr marL="171450" lvl="0" indent="-171450" defTabSz="914400" eaLnBrk="0" fontAlgn="base" hangingPunct="0">
              <a:spcBef>
                <a:spcPct val="0"/>
              </a:spcBef>
              <a:spcAft>
                <a:spcPct val="0"/>
              </a:spcAft>
              <a:buClrTx/>
              <a:buSzTx/>
              <a:buFont typeface="Arial" panose="020B0604020202020204" pitchFamily="34" charset="0"/>
              <a:buChar char="•"/>
            </a:pPr>
            <a:endPar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lvl="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Quick Donor Search</a:t>
            </a:r>
          </a:p>
          <a:p>
            <a:pPr marL="171450" lvl="0" indent="-171450" defTabSz="914400" eaLnBrk="0" fontAlgn="base" hangingPunct="0">
              <a:spcBef>
                <a:spcPct val="0"/>
              </a:spcBef>
              <a:spcAft>
                <a:spcPct val="0"/>
              </a:spcAft>
              <a:buClrTx/>
              <a:buSzTx/>
              <a:buFont typeface="Arial" panose="020B0604020202020204" pitchFamily="34" charset="0"/>
              <a:buChar char="•"/>
            </a:pPr>
            <a:endPar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lvl="0" indent="-171450" defTabSz="914400" eaLnBrk="0" fontAlgn="base" hangingPunct="0">
              <a:spcBef>
                <a:spcPct val="0"/>
              </a:spcBef>
              <a:spcAft>
                <a:spcPct val="0"/>
              </a:spcAft>
              <a:buClrTx/>
              <a:buSzTx/>
              <a:buFont typeface="Arial" panose="020B0604020202020204" pitchFamily="34" charset="0"/>
              <a:buChar char="•"/>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Data Security</a:t>
            </a:r>
          </a:p>
        </p:txBody>
      </p:sp>
    </p:spTree>
    <p:extLst>
      <p:ext uri="{BB962C8B-B14F-4D97-AF65-F5344CB8AC3E}">
        <p14:creationId xmlns:p14="http://schemas.microsoft.com/office/powerpoint/2010/main" val="1029930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74BA67-89A3-226A-808E-E2C56EE581B5}"/>
              </a:ext>
            </a:extLst>
          </p:cNvPr>
          <p:cNvSpPr txBox="1"/>
          <p:nvPr/>
        </p:nvSpPr>
        <p:spPr>
          <a:xfrm>
            <a:off x="448965" y="687206"/>
            <a:ext cx="4587498" cy="307777"/>
          </a:xfrm>
          <a:prstGeom prst="rect">
            <a:avLst/>
          </a:prstGeom>
          <a:noFill/>
        </p:spPr>
        <p:txBody>
          <a:bodyPr wrap="square">
            <a:spAutoFit/>
          </a:bodyPr>
          <a:lstStyle/>
          <a:p>
            <a:r>
              <a:rPr lang="en-US" sz="1400" b="1" dirty="0">
                <a:solidFill>
                  <a:schemeClr val="bg1"/>
                </a:solidFill>
                <a:effectLst>
                  <a:glow rad="139700">
                    <a:schemeClr val="accent5">
                      <a:satMod val="175000"/>
                      <a:alpha val="40000"/>
                    </a:schemeClr>
                  </a:glow>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Enhancements:</a:t>
            </a:r>
            <a:endParaRPr lang="en-IN" sz="1400" b="1" dirty="0">
              <a:solidFill>
                <a:schemeClr val="bg1"/>
              </a:solidFill>
              <a:effectLst>
                <a:glow rad="139700">
                  <a:schemeClr val="accent5">
                    <a:satMod val="175000"/>
                    <a:alpha val="40000"/>
                  </a:schemeClr>
                </a:glow>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AA5CB84-01F9-6C8F-9C88-6FA8461E7B76}"/>
              </a:ext>
            </a:extLst>
          </p:cNvPr>
          <p:cNvSpPr txBox="1"/>
          <p:nvPr/>
        </p:nvSpPr>
        <p:spPr>
          <a:xfrm>
            <a:off x="907080" y="994983"/>
            <a:ext cx="4587498" cy="1015663"/>
          </a:xfrm>
          <a:prstGeom prst="rect">
            <a:avLst/>
          </a:prstGeom>
          <a:noFill/>
        </p:spPr>
        <p:txBody>
          <a:bodyPr wrap="square">
            <a:spAutoFit/>
          </a:bodyPr>
          <a:lstStyle/>
          <a:p>
            <a:pPr marL="171450" indent="-171450">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Develop a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mobile application</a:t>
            </a: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for easier access on smartphones</a:t>
            </a:r>
          </a:p>
          <a:p>
            <a:pPr marL="171450" indent="-171450">
              <a:buFont typeface="Arial" panose="020B0604020202020204" pitchFamily="34" charset="0"/>
              <a:buChar char="•"/>
            </a:pPr>
            <a:endPar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Improve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security features</a:t>
            </a: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to protect sensitive medical data</a:t>
            </a:r>
          </a:p>
          <a:p>
            <a:pPr marL="171450" indent="-171450">
              <a:buFont typeface="Arial" panose="020B0604020202020204" pitchFamily="34" charset="0"/>
              <a:buChar char="•"/>
            </a:pPr>
            <a:endPar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Add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location-based search</a:t>
            </a: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to find nearby donors and hospitals</a:t>
            </a:r>
            <a:endPar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3EC441-9E06-6C96-6389-3B472F38A6F9}"/>
              </a:ext>
            </a:extLst>
          </p:cNvPr>
          <p:cNvSpPr txBox="1"/>
          <p:nvPr/>
        </p:nvSpPr>
        <p:spPr>
          <a:xfrm>
            <a:off x="448965" y="2263973"/>
            <a:ext cx="4587498" cy="307777"/>
          </a:xfrm>
          <a:prstGeom prst="rect">
            <a:avLst/>
          </a:prstGeom>
          <a:noFill/>
        </p:spPr>
        <p:txBody>
          <a:bodyPr wrap="square">
            <a:spAutoFit/>
          </a:bodyPr>
          <a:lstStyle/>
          <a:p>
            <a:r>
              <a:rPr lang="en-IN" sz="1400" b="1" dirty="0">
                <a:solidFill>
                  <a:schemeClr val="bg1"/>
                </a:solidFill>
                <a:effectLst>
                  <a:glow rad="139700">
                    <a:schemeClr val="accent5">
                      <a:satMod val="175000"/>
                      <a:alpha val="40000"/>
                    </a:schemeClr>
                  </a:glow>
                </a:effectLst>
                <a:latin typeface="Times New Roman" panose="02020603050405020304" pitchFamily="18" charset="0"/>
                <a:cs typeface="Times New Roman" panose="02020603050405020304" pitchFamily="18" charset="0"/>
              </a:rPr>
              <a:t>Definition of Modules:</a:t>
            </a:r>
          </a:p>
        </p:txBody>
      </p:sp>
      <p:sp>
        <p:nvSpPr>
          <p:cNvPr id="9" name="TextBox 8">
            <a:extLst>
              <a:ext uri="{FF2B5EF4-FFF2-40B4-BE49-F238E27FC236}">
                <a16:creationId xmlns:a16="http://schemas.microsoft.com/office/drawing/2014/main" id="{5DEBCDF9-A5C8-3EF6-5B33-614BD9FE0A93}"/>
              </a:ext>
            </a:extLst>
          </p:cNvPr>
          <p:cNvSpPr txBox="1"/>
          <p:nvPr/>
        </p:nvSpPr>
        <p:spPr>
          <a:xfrm>
            <a:off x="907080" y="2571750"/>
            <a:ext cx="5802790" cy="1200329"/>
          </a:xfrm>
          <a:prstGeom prst="rect">
            <a:avLst/>
          </a:prstGeom>
          <a:noFill/>
        </p:spPr>
        <p:txBody>
          <a:bodyPr wrap="square">
            <a:spAutoFit/>
          </a:bodyPr>
          <a:lstStyle/>
          <a:p>
            <a:pPr algn="just"/>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In this system, a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module</a:t>
            </a: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refers to a specific functional component that performs a particular task in the organ donation platform. The project is divided into multiple modules such as </a:t>
            </a:r>
            <a:r>
              <a:rPr 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Admin, Donor, Hospital, and Patient</a:t>
            </a:r>
            <a:r>
              <a:rPr 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where each module handles different operations like registration, organ request management, donor search, and system monitoring. These modules work together to ensure the efficient functioning of the organ donation system.</a:t>
            </a:r>
            <a:endPar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8095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643380-7935-DDA3-5281-3E8B1E97838C}"/>
              </a:ext>
            </a:extLst>
          </p:cNvPr>
          <p:cNvSpPr txBox="1"/>
          <p:nvPr/>
        </p:nvSpPr>
        <p:spPr>
          <a:xfrm>
            <a:off x="448965" y="586585"/>
            <a:ext cx="4587498" cy="307777"/>
          </a:xfrm>
          <a:prstGeom prst="rect">
            <a:avLst/>
          </a:prstGeom>
          <a:noFill/>
        </p:spPr>
        <p:txBody>
          <a:bodyPr wrap="square">
            <a:spAutoFit/>
          </a:bodyPr>
          <a:lstStyle/>
          <a:p>
            <a:r>
              <a:rPr lang="en-IN" sz="1400" b="1" dirty="0">
                <a:solidFill>
                  <a:schemeClr val="bg1"/>
                </a:solidFill>
                <a:effectLst>
                  <a:glow rad="228600">
                    <a:schemeClr val="accent5">
                      <a:satMod val="175000"/>
                      <a:alpha val="40000"/>
                    </a:schemeClr>
                  </a:glow>
                </a:effectLst>
                <a:latin typeface="Times New Roman" panose="02020603050405020304" pitchFamily="18" charset="0"/>
                <a:cs typeface="Times New Roman" panose="02020603050405020304" pitchFamily="18" charset="0"/>
              </a:rPr>
              <a:t>Module Creators and Responsibilities:</a:t>
            </a:r>
          </a:p>
        </p:txBody>
      </p:sp>
      <p:sp>
        <p:nvSpPr>
          <p:cNvPr id="5" name="TextBox 4">
            <a:extLst>
              <a:ext uri="{FF2B5EF4-FFF2-40B4-BE49-F238E27FC236}">
                <a16:creationId xmlns:a16="http://schemas.microsoft.com/office/drawing/2014/main" id="{7C8384B7-C5E8-4A27-BFC0-F9365F2F2572}"/>
              </a:ext>
            </a:extLst>
          </p:cNvPr>
          <p:cNvSpPr txBox="1"/>
          <p:nvPr/>
        </p:nvSpPr>
        <p:spPr>
          <a:xfrm>
            <a:off x="754375" y="894362"/>
            <a:ext cx="6108201" cy="2552109"/>
          </a:xfrm>
          <a:prstGeom prst="rect">
            <a:avLst/>
          </a:prstGeom>
          <a:noFill/>
        </p:spPr>
        <p:txBody>
          <a:bodyPr wrap="square">
            <a:spAutoFit/>
          </a:bodyPr>
          <a:lstStyle/>
          <a:p>
            <a:pPr algn="just">
              <a:lnSpc>
                <a:spcPct val="150000"/>
              </a:lnSpc>
            </a:pP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The development of the project was divided among the team members based on the functional modules of the system. Each member was responsible for the design, implementation, and testing of their assigned module, contributing to the successful development of the </a:t>
            </a: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Organ Donation &amp; Hospital Coordination Web Platform</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a:t>
            </a:r>
          </a:p>
          <a:p>
            <a:pPr algn="just">
              <a:lnSpc>
                <a:spcPct val="150000"/>
              </a:lnSpc>
            </a:pPr>
            <a:endPar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marL="171450" indent="-171450" algn="just">
              <a:lnSpc>
                <a:spcPct val="150000"/>
              </a:lnSpc>
              <a:buFont typeface="Arial" panose="020B0604020202020204" pitchFamily="34" charset="0"/>
              <a:buChar char="•"/>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Seran M</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 Developed the </a:t>
            </a: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Admin Module</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a:t>
            </a:r>
          </a:p>
          <a:p>
            <a:pPr marL="171450" indent="-171450" algn="just">
              <a:lnSpc>
                <a:spcPct val="150000"/>
              </a:lnSpc>
              <a:buFont typeface="Arial" panose="020B0604020202020204" pitchFamily="34" charset="0"/>
              <a:buChar char="•"/>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Kaviya V</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 Developed the </a:t>
            </a: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Hospital Module</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a:t>
            </a:r>
          </a:p>
          <a:p>
            <a:pPr marL="171450" indent="-171450" algn="just">
              <a:lnSpc>
                <a:spcPct val="150000"/>
              </a:lnSpc>
              <a:buFont typeface="Arial" panose="020B0604020202020204" pitchFamily="34" charset="0"/>
              <a:buChar char="•"/>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Pravina S</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 Developed the </a:t>
            </a: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Donor Module</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a:t>
            </a:r>
          </a:p>
          <a:p>
            <a:pPr marL="171450" indent="-171450" algn="just">
              <a:lnSpc>
                <a:spcPct val="150000"/>
              </a:lnSpc>
              <a:buFont typeface="Arial" panose="020B0604020202020204" pitchFamily="34" charset="0"/>
              <a:buChar char="•"/>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Mohan Babu A</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 Developed the </a:t>
            </a: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Patient Module</a:t>
            </a:r>
            <a:endPar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555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4520B2-786B-F3CE-20A6-5288C66DEE3E}"/>
              </a:ext>
            </a:extLst>
          </p:cNvPr>
          <p:cNvSpPr txBox="1"/>
          <p:nvPr/>
        </p:nvSpPr>
        <p:spPr>
          <a:xfrm>
            <a:off x="448965" y="739290"/>
            <a:ext cx="4587498" cy="307777"/>
          </a:xfrm>
          <a:prstGeom prst="rect">
            <a:avLst/>
          </a:prstGeom>
          <a:noFill/>
        </p:spPr>
        <p:txBody>
          <a:bodyPr wrap="square">
            <a:spAutoFit/>
          </a:bodyPr>
          <a:lstStyle/>
          <a:p>
            <a:r>
              <a:rPr lang="en-IN" sz="1400" b="1" dirty="0">
                <a:solidFill>
                  <a:schemeClr val="bg1"/>
                </a:solidFill>
                <a:effectLst>
                  <a:glow rad="139700">
                    <a:schemeClr val="accent5">
                      <a:satMod val="175000"/>
                      <a:alpha val="40000"/>
                    </a:schemeClr>
                  </a:glow>
                </a:effectLst>
                <a:latin typeface="Times New Roman" panose="02020603050405020304" pitchFamily="18" charset="0"/>
                <a:cs typeface="Times New Roman" panose="02020603050405020304" pitchFamily="18" charset="0"/>
              </a:rPr>
              <a:t>Definition of Software Tools:</a:t>
            </a:r>
          </a:p>
        </p:txBody>
      </p:sp>
      <p:sp>
        <p:nvSpPr>
          <p:cNvPr id="5" name="Rectangle 1">
            <a:extLst>
              <a:ext uri="{FF2B5EF4-FFF2-40B4-BE49-F238E27FC236}">
                <a16:creationId xmlns:a16="http://schemas.microsoft.com/office/drawing/2014/main" id="{2D15B652-70C4-D5AB-3FEF-368225326A34}"/>
              </a:ext>
            </a:extLst>
          </p:cNvPr>
          <p:cNvSpPr>
            <a:spLocks noChangeArrowheads="1"/>
          </p:cNvSpPr>
          <p:nvPr/>
        </p:nvSpPr>
        <p:spPr bwMode="auto">
          <a:xfrm>
            <a:off x="754375" y="973678"/>
            <a:ext cx="7024431" cy="1998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Visual Studio Code</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 Used as the code editor to write and manage the project source code.</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HTML, CSS, JavaScript</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 Used to design and develop the front-end interface of the website.</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React.js</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 Used to build interactive and dynamic user interface components.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Python</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 Used as the </a:t>
            </a: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backend programming language</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to handle server-side logic and process user requests.</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MySQL</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 Used as the </a:t>
            </a: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database</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to store and manage data such as donor details, patient requests, and hospital          information.</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Web Browser (Google Chrome)</a:t>
            </a:r>
            <a:r>
              <a:rPr kumimoji="0" lang="en-US"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 Used for testing and running the web application.</a:t>
            </a:r>
          </a:p>
        </p:txBody>
      </p:sp>
    </p:spTree>
    <p:extLst>
      <p:ext uri="{BB962C8B-B14F-4D97-AF65-F5344CB8AC3E}">
        <p14:creationId xmlns:p14="http://schemas.microsoft.com/office/powerpoint/2010/main" val="4079980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CBE9E8-1F2D-A306-32BB-2F4144AF6039}"/>
              </a:ext>
            </a:extLst>
          </p:cNvPr>
          <p:cNvSpPr txBox="1"/>
          <p:nvPr/>
        </p:nvSpPr>
        <p:spPr>
          <a:xfrm>
            <a:off x="448965" y="281175"/>
            <a:ext cx="4587498" cy="307777"/>
          </a:xfrm>
          <a:prstGeom prst="rect">
            <a:avLst/>
          </a:prstGeom>
          <a:noFill/>
        </p:spPr>
        <p:txBody>
          <a:bodyPr wrap="square">
            <a:spAutoFit/>
          </a:bodyPr>
          <a:lstStyle/>
          <a:p>
            <a:r>
              <a:rPr lang="en-IN" sz="1400" b="1" dirty="0">
                <a:solidFill>
                  <a:schemeClr val="bg1"/>
                </a:solidFill>
                <a:effectLst>
                  <a:glow rad="139700">
                    <a:schemeClr val="accent5">
                      <a:satMod val="175000"/>
                      <a:alpha val="40000"/>
                    </a:schemeClr>
                  </a:glow>
                </a:effectLst>
                <a:latin typeface="Times New Roman" panose="02020603050405020304" pitchFamily="18" charset="0"/>
                <a:cs typeface="Times New Roman" panose="02020603050405020304" pitchFamily="18" charset="0"/>
              </a:rPr>
              <a:t>Explain the Coding:</a:t>
            </a:r>
          </a:p>
        </p:txBody>
      </p:sp>
      <p:sp>
        <p:nvSpPr>
          <p:cNvPr id="5" name="TextBox 4">
            <a:extLst>
              <a:ext uri="{FF2B5EF4-FFF2-40B4-BE49-F238E27FC236}">
                <a16:creationId xmlns:a16="http://schemas.microsoft.com/office/drawing/2014/main" id="{5DB1DF86-1FF7-DD00-95C8-DF218E8533E9}"/>
              </a:ext>
            </a:extLst>
          </p:cNvPr>
          <p:cNvSpPr txBox="1"/>
          <p:nvPr/>
        </p:nvSpPr>
        <p:spPr>
          <a:xfrm>
            <a:off x="1059785" y="588952"/>
            <a:ext cx="6566315" cy="2829108"/>
          </a:xfrm>
          <a:prstGeom prst="rect">
            <a:avLst/>
          </a:prstGeom>
          <a:noFill/>
        </p:spPr>
        <p:txBody>
          <a:bodyPr wrap="square">
            <a:spAutoFit/>
          </a:bodyPr>
          <a:lstStyle/>
          <a:p>
            <a:pPr marL="171450" lvl="0" indent="-171450" algn="just" eaLnBrk="0" fontAlgn="base" hangingPunct="0">
              <a:lnSpc>
                <a:spcPct val="150000"/>
              </a:lnSpc>
              <a:spcBef>
                <a:spcPct val="0"/>
              </a:spcBef>
              <a:spcAft>
                <a:spcPct val="0"/>
              </a:spcAft>
              <a:buFont typeface="Wingdings" panose="05000000000000000000" pitchFamily="2" charset="2"/>
              <a:buChar char="v"/>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HTML     -      </a:t>
            </a:r>
            <a:r>
              <a:rPr lang="en-IN" sz="1200" dirty="0" err="1">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HyperText</a:t>
            </a: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Markup Language</a:t>
            </a:r>
          </a:p>
          <a:p>
            <a:pPr marL="171450" lvl="0" indent="-171450" algn="just" eaLnBrk="0" fontAlgn="base" hangingPunct="0">
              <a:lnSpc>
                <a:spcPct val="150000"/>
              </a:lnSpc>
              <a:spcBef>
                <a:spcPct val="0"/>
              </a:spcBef>
              <a:spcAft>
                <a:spcPct val="0"/>
              </a:spcAft>
              <a:buFont typeface="Wingdings" panose="05000000000000000000" pitchFamily="2" charset="2"/>
              <a:buChar char="v"/>
            </a:pPr>
            <a:endPar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r>
              <a:rPr kumimoji="0" lang="en-IN" altLang="en-US" sz="1200" b="0" i="0" u="none" strike="noStrike" cap="none" normalizeH="0" baseline="0" dirty="0">
                <a:ln>
                  <a:noFill/>
                </a:ln>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E</a:t>
            </a:r>
            <a:r>
              <a:rPr lang="en-IN"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x:</a:t>
            </a:r>
            <a:r>
              <a:rPr lang="en-US" altLang="en-US"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a:t>
            </a:r>
            <a: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HTML (</a:t>
            </a:r>
            <a:r>
              <a:rPr lang="en-IN" sz="1200" b="1" dirty="0" err="1">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HyperText</a:t>
            </a:r>
            <a: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Markup Language)</a:t>
            </a: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is the standard markup language used to create and structure web pages. It defines the layout and content of a webpage using elements such as headings, paragraphs, images, links, tables, and forms.</a:t>
            </a:r>
          </a:p>
          <a:p>
            <a:pPr lvl="0" algn="just" eaLnBrk="0" fontAlgn="base" hangingPunct="0">
              <a:lnSpc>
                <a:spcPct val="150000"/>
              </a:lnSpc>
              <a:spcBef>
                <a:spcPct val="0"/>
              </a:spcBef>
              <a:spcAft>
                <a:spcPct val="0"/>
              </a:spcAft>
            </a:pPr>
            <a:endPar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Role in Our Project:</a:t>
            </a:r>
          </a:p>
          <a:p>
            <a:pPr lvl="0" algn="just" eaLnBrk="0" fontAlgn="base" hangingPunct="0">
              <a:lnSpc>
                <a:spcPct val="150000"/>
              </a:lnSpc>
              <a:spcBef>
                <a:spcPct val="0"/>
              </a:spcBef>
              <a:spcAft>
                <a:spcPct val="0"/>
              </a:spcAft>
            </a:pPr>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HTML is used to design and structure the user interface pages such as registration forms, login pages, donor details, patient requests, and hospital management screens.</a:t>
            </a:r>
            <a:endParaRPr lang="en-IN" altLang="en-US"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5647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3133C5-C9B1-918F-1FF9-5D050EE6B907}"/>
              </a:ext>
            </a:extLst>
          </p:cNvPr>
          <p:cNvSpPr txBox="1"/>
          <p:nvPr/>
        </p:nvSpPr>
        <p:spPr>
          <a:xfrm>
            <a:off x="1059785" y="586585"/>
            <a:ext cx="6108200" cy="2308324"/>
          </a:xfrm>
          <a:prstGeom prst="rect">
            <a:avLst/>
          </a:prstGeom>
          <a:noFill/>
        </p:spPr>
        <p:txBody>
          <a:bodyPr wrap="square">
            <a:spAutoFit/>
          </a:bodyPr>
          <a:lstStyle/>
          <a:p>
            <a:pPr marL="171450" indent="-171450">
              <a:buFont typeface="Wingdings" panose="05000000000000000000" pitchFamily="2" charset="2"/>
              <a:buChar char="v"/>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CSS     -      Cascading Style Sheets</a:t>
            </a:r>
          </a:p>
          <a:p>
            <a:pPr marL="171450" indent="-171450">
              <a:buFont typeface="Wingdings" panose="05000000000000000000" pitchFamily="2" charset="2"/>
              <a:buChar char="v"/>
            </a:pPr>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CSS (Cascading Style Sheets)</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is a stylesheet language used to control the appearance and layout of web pages. It is used to add </a:t>
            </a:r>
            <a:r>
              <a:rPr lang="en-IN" sz="1200" dirty="0" err="1">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colors</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fonts, spacing, animations, and responsive designs to HTML elements.</a:t>
            </a:r>
          </a:p>
          <a:p>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Role in Our Project:</a:t>
            </a:r>
          </a:p>
          <a:p>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CSS is used to design and style the user interface of the Organ Donation &amp; Hospital Coordination Web Platform, making the website visually appealing, user-friendly, and responsive across different devices.</a:t>
            </a:r>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3874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723F55-BE19-9DBF-BF9D-B0F533010110}"/>
              </a:ext>
            </a:extLst>
          </p:cNvPr>
          <p:cNvSpPr txBox="1"/>
          <p:nvPr/>
        </p:nvSpPr>
        <p:spPr>
          <a:xfrm>
            <a:off x="754374" y="586585"/>
            <a:ext cx="5955495" cy="2308324"/>
          </a:xfrm>
          <a:prstGeom prst="rect">
            <a:avLst/>
          </a:prstGeom>
          <a:noFill/>
        </p:spPr>
        <p:txBody>
          <a:bodyPr wrap="square">
            <a:spAutoFit/>
          </a:bodyPr>
          <a:lstStyle/>
          <a:p>
            <a:pPr marL="171450" indent="-171450">
              <a:buFont typeface="Wingdings" panose="05000000000000000000" pitchFamily="2" charset="2"/>
              <a:buChar char="v"/>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JS     -     JavaScript</a:t>
            </a:r>
          </a:p>
          <a:p>
            <a:pPr marL="171450" indent="-171450">
              <a:buFont typeface="Wingdings" panose="05000000000000000000" pitchFamily="2" charset="2"/>
              <a:buChar char="v"/>
            </a:pPr>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JavaScript (JS)</a:t>
            </a: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is a programming language used to make web pages interactive and dynamic. It enables features such as form validation, user interactions, real-time updates, and data processing within web applications.</a:t>
            </a:r>
          </a:p>
          <a:p>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Role in Our Project:</a:t>
            </a:r>
          </a:p>
          <a:p>
            <a:pPr algn="just"/>
            <a:b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br>
            <a:r>
              <a:rPr lang="en-IN" sz="1200"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JavaScript is used to handle user interactions, validate registration and login forms, process organ requests, manage real-time notifications, and improve the overall functionality of the Organ Donation &amp; Hospital Coordination Web Platform.</a:t>
            </a: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4917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B8F59D-1C29-E3BF-2168-F4B7798C7233}"/>
              </a:ext>
            </a:extLst>
          </p:cNvPr>
          <p:cNvSpPr txBox="1"/>
          <p:nvPr/>
        </p:nvSpPr>
        <p:spPr>
          <a:xfrm>
            <a:off x="907079" y="586585"/>
            <a:ext cx="6260905" cy="2492990"/>
          </a:xfrm>
          <a:prstGeom prst="rect">
            <a:avLst/>
          </a:prstGeom>
          <a:noFill/>
        </p:spPr>
        <p:txBody>
          <a:bodyPr wrap="square">
            <a:spAutoFit/>
          </a:bodyPr>
          <a:lstStyle/>
          <a:p>
            <a:pPr marL="171450" indent="-171450">
              <a:buFont typeface="Wingdings" panose="05000000000000000000" pitchFamily="2" charset="2"/>
              <a:buChar char="v"/>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MySQL     -      My Structured Query Language</a:t>
            </a:r>
          </a:p>
          <a:p>
            <a:pPr marL="171450" indent="-171450">
              <a:buFont typeface="Wingdings" panose="05000000000000000000" pitchFamily="2" charset="2"/>
              <a:buChar char="v"/>
            </a:pPr>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MySQL</a:t>
            </a: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is an open-source Relational Database Management System (RDBMS) used to store, manage, and retrieve data efficiently. It organizes data into tables and supports Structured Query Language (SQL) for database operations.</a:t>
            </a:r>
          </a:p>
          <a:p>
            <a:pPr algn="just"/>
            <a:endPar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Role in Our Project:</a:t>
            </a:r>
            <a:b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br>
            <a:endPar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MySQL is used as the backend database to store and manage donor details, patient requests, hospital information, organ availability records, user accounts, and transaction data in the Organ Donation &amp; Hospital Coordination Web Platform.</a:t>
            </a:r>
          </a:p>
          <a:p>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912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AEBDC0-875C-E0AD-BB16-9B765C87E39C}"/>
              </a:ext>
            </a:extLst>
          </p:cNvPr>
          <p:cNvSpPr txBox="1"/>
          <p:nvPr/>
        </p:nvSpPr>
        <p:spPr>
          <a:xfrm>
            <a:off x="754374" y="739290"/>
            <a:ext cx="6260905" cy="2492990"/>
          </a:xfrm>
          <a:prstGeom prst="rect">
            <a:avLst/>
          </a:prstGeom>
          <a:noFill/>
        </p:spPr>
        <p:txBody>
          <a:bodyPr wrap="square">
            <a:spAutoFit/>
          </a:bodyPr>
          <a:lstStyle/>
          <a:p>
            <a:pPr marL="171450" indent="-171450">
              <a:buFont typeface="Wingdings" panose="05000000000000000000" pitchFamily="2" charset="2"/>
              <a:buChar char="v"/>
            </a:pPr>
            <a:r>
              <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rPr>
              <a:t>Python     -     High-level Programming Language</a:t>
            </a:r>
          </a:p>
          <a:p>
            <a:pPr marL="171450" indent="-171450">
              <a:buFont typeface="Wingdings" panose="05000000000000000000" pitchFamily="2" charset="2"/>
              <a:buChar char="v"/>
            </a:pPr>
            <a:endParaRPr lang="en-IN" sz="1200" b="1" dirty="0">
              <a:solidFill>
                <a:schemeClr val="bg1"/>
              </a:solidFill>
              <a:effectLst>
                <a:glow rad="2286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Python</a:t>
            </a:r>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 is a high-level, versatile, and easy-to-learn programming language widely used for web development, data processing, automation, and software development. It provides simple syntax and powerful libraries for building efficient applications.</a:t>
            </a:r>
          </a:p>
          <a:p>
            <a:endPar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endPar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Role in Our Project:</a:t>
            </a:r>
            <a:br>
              <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br>
            <a:endPar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a:p>
            <a:pPr algn="just"/>
            <a:r>
              <a:rPr lang="en-IN" sz="1200"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rPr>
              <a:t>Python is used as the backend programming language to handle business logic, process user requests, manage authentication, interact with the MySQL database, and ensure smooth communication between the frontend and backend of the Organ Donation &amp; Hospital Coordination Web Platform.</a:t>
            </a:r>
            <a:endParaRPr lang="en-IN" sz="1200" b="1" dirty="0">
              <a:solidFill>
                <a:schemeClr val="bg1"/>
              </a:solidFill>
              <a:effectLst>
                <a:glow rad="139700">
                  <a:schemeClr val="accent6">
                    <a:satMod val="175000"/>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214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9A303D-EAEE-EAD6-6DEA-D06492D824E4}"/>
              </a:ext>
            </a:extLst>
          </p:cNvPr>
          <p:cNvSpPr txBox="1"/>
          <p:nvPr/>
        </p:nvSpPr>
        <p:spPr>
          <a:xfrm>
            <a:off x="296260" y="-1"/>
            <a:ext cx="2991910" cy="480061"/>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b="1" dirty="0">
                <a:effectLst>
                  <a:glow rad="139700">
                    <a:schemeClr val="accent5">
                      <a:satMod val="175000"/>
                      <a:alpha val="40000"/>
                    </a:schemeClr>
                  </a:glow>
                </a:effectLst>
                <a:latin typeface="+mj-lt"/>
                <a:ea typeface="+mj-ea"/>
                <a:cs typeface="+mj-cs"/>
              </a:rPr>
              <a:t>Sample Output </a:t>
            </a:r>
            <a:r>
              <a:rPr lang="en-US" b="1" dirty="0" err="1">
                <a:effectLst>
                  <a:glow rad="139700">
                    <a:schemeClr val="accent5">
                      <a:satMod val="175000"/>
                      <a:alpha val="40000"/>
                    </a:schemeClr>
                  </a:glow>
                </a:effectLst>
                <a:latin typeface="+mj-lt"/>
                <a:ea typeface="+mj-ea"/>
                <a:cs typeface="+mj-cs"/>
              </a:rPr>
              <a:t>ScreenShot</a:t>
            </a:r>
            <a:r>
              <a:rPr lang="en-US" b="1" dirty="0">
                <a:effectLst>
                  <a:glow rad="139700">
                    <a:schemeClr val="accent5">
                      <a:satMod val="175000"/>
                      <a:alpha val="40000"/>
                    </a:schemeClr>
                  </a:glow>
                </a:effectLst>
                <a:latin typeface="+mj-lt"/>
                <a:ea typeface="+mj-ea"/>
                <a:cs typeface="+mj-cs"/>
              </a:rPr>
              <a:t>:</a:t>
            </a:r>
          </a:p>
        </p:txBody>
      </p:sp>
      <p:pic>
        <p:nvPicPr>
          <p:cNvPr id="5" name="Picture 4">
            <a:extLst>
              <a:ext uri="{FF2B5EF4-FFF2-40B4-BE49-F238E27FC236}">
                <a16:creationId xmlns:a16="http://schemas.microsoft.com/office/drawing/2014/main" id="{581CB9BC-368E-D406-4CFA-2948C3D98572}"/>
              </a:ext>
            </a:extLst>
          </p:cNvPr>
          <p:cNvPicPr>
            <a:picLocks noChangeAspect="1"/>
          </p:cNvPicPr>
          <p:nvPr/>
        </p:nvPicPr>
        <p:blipFill>
          <a:blip r:embed="rId2">
            <a:extLst>
              <a:ext uri="{28A0092B-C50C-407E-A947-70E740481C1C}">
                <a14:useLocalDpi xmlns:a14="http://schemas.microsoft.com/office/drawing/2010/main" val="0"/>
              </a:ext>
            </a:extLst>
          </a:blip>
          <a:srcRect l="3351" t="9477" r="1487" b="9728"/>
          <a:stretch>
            <a:fillRect/>
          </a:stretch>
        </p:blipFill>
        <p:spPr>
          <a:xfrm>
            <a:off x="754375" y="586584"/>
            <a:ext cx="7787956" cy="3521071"/>
          </a:xfrm>
          <a:prstGeom prst="rect">
            <a:avLst/>
          </a:prstGeom>
          <a:ln w="19050">
            <a:solidFill>
              <a:schemeClr val="tx1"/>
            </a:solidFill>
            <a:miter lim="800000"/>
          </a:ln>
        </p:spPr>
      </p:pic>
      <p:sp>
        <p:nvSpPr>
          <p:cNvPr id="9" name="TextBox 8">
            <a:extLst>
              <a:ext uri="{FF2B5EF4-FFF2-40B4-BE49-F238E27FC236}">
                <a16:creationId xmlns:a16="http://schemas.microsoft.com/office/drawing/2014/main" id="{807ACF83-30F4-A874-8D20-35C44172A8B6}"/>
              </a:ext>
            </a:extLst>
          </p:cNvPr>
          <p:cNvSpPr txBox="1"/>
          <p:nvPr/>
        </p:nvSpPr>
        <p:spPr>
          <a:xfrm>
            <a:off x="2278251" y="4321808"/>
            <a:ext cx="4587498" cy="341632"/>
          </a:xfrm>
          <a:prstGeom prst="rect">
            <a:avLst/>
          </a:prstGeom>
          <a:noFill/>
        </p:spPr>
        <p:txBody>
          <a:bodyPr wrap="square">
            <a:spAutoFit/>
          </a:bodyPr>
          <a:lstStyle/>
          <a:p>
            <a:pPr algn="ctr">
              <a:lnSpc>
                <a:spcPct val="90000"/>
              </a:lnSpc>
              <a:spcBef>
                <a:spcPct val="0"/>
              </a:spcBef>
              <a:spcAft>
                <a:spcPts val="600"/>
              </a:spcAft>
            </a:pPr>
            <a:r>
              <a:rPr lang="en-US" b="1" u="sng" dirty="0">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Home Page</a:t>
            </a:r>
          </a:p>
        </p:txBody>
      </p:sp>
    </p:spTree>
    <p:extLst>
      <p:ext uri="{BB962C8B-B14F-4D97-AF65-F5344CB8AC3E}">
        <p14:creationId xmlns:p14="http://schemas.microsoft.com/office/powerpoint/2010/main" val="3032090226"/>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C1A861A-C554-8DB8-0BD8-CBCD53E34186}"/>
              </a:ext>
            </a:extLst>
          </p:cNvPr>
          <p:cNvPicPr>
            <a:picLocks noChangeAspect="1"/>
          </p:cNvPicPr>
          <p:nvPr/>
        </p:nvPicPr>
        <p:blipFill>
          <a:blip r:embed="rId2">
            <a:extLst>
              <a:ext uri="{28A0092B-C50C-407E-A947-70E740481C1C}">
                <a14:useLocalDpi xmlns:a14="http://schemas.microsoft.com/office/drawing/2010/main" val="0"/>
              </a:ext>
            </a:extLst>
          </a:blip>
          <a:srcRect l="2964" t="10600" r="7" b="-602"/>
          <a:stretch>
            <a:fillRect/>
          </a:stretch>
        </p:blipFill>
        <p:spPr>
          <a:xfrm>
            <a:off x="754375" y="739290"/>
            <a:ext cx="7875275" cy="3889860"/>
          </a:xfrm>
          <a:prstGeom prst="rect">
            <a:avLst/>
          </a:prstGeom>
        </p:spPr>
      </p:pic>
      <p:sp>
        <p:nvSpPr>
          <p:cNvPr id="6" name="TextBox 5">
            <a:extLst>
              <a:ext uri="{FF2B5EF4-FFF2-40B4-BE49-F238E27FC236}">
                <a16:creationId xmlns:a16="http://schemas.microsoft.com/office/drawing/2014/main" id="{B073DBBF-7E0B-5064-E50D-32094E506ACD}"/>
              </a:ext>
            </a:extLst>
          </p:cNvPr>
          <p:cNvSpPr txBox="1"/>
          <p:nvPr/>
        </p:nvSpPr>
        <p:spPr>
          <a:xfrm>
            <a:off x="2278251" y="4629150"/>
            <a:ext cx="4587498" cy="341632"/>
          </a:xfrm>
          <a:prstGeom prst="rect">
            <a:avLst/>
          </a:prstGeom>
          <a:noFill/>
        </p:spPr>
        <p:txBody>
          <a:bodyPr wrap="square">
            <a:spAutoFit/>
          </a:bodyPr>
          <a:lstStyle/>
          <a:p>
            <a:pPr algn="ctr">
              <a:lnSpc>
                <a:spcPct val="90000"/>
              </a:lnSpc>
              <a:spcBef>
                <a:spcPct val="0"/>
              </a:spcBef>
              <a:spcAft>
                <a:spcPts val="600"/>
              </a:spcAft>
            </a:pPr>
            <a:r>
              <a:rPr lang="en-US" b="1" u="sng" dirty="0">
                <a:solidFill>
                  <a:schemeClr val="bg1"/>
                </a:solidFill>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Registration Page</a:t>
            </a:r>
          </a:p>
        </p:txBody>
      </p:sp>
    </p:spTree>
    <p:extLst>
      <p:ext uri="{BB962C8B-B14F-4D97-AF65-F5344CB8AC3E}">
        <p14:creationId xmlns:p14="http://schemas.microsoft.com/office/powerpoint/2010/main" val="3055003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02EE97E-D84B-E77F-5883-6873C95FB6BD}"/>
              </a:ext>
            </a:extLst>
          </p:cNvPr>
          <p:cNvPicPr>
            <a:picLocks noChangeAspect="1"/>
          </p:cNvPicPr>
          <p:nvPr/>
        </p:nvPicPr>
        <p:blipFill>
          <a:blip r:embed="rId2">
            <a:extLst>
              <a:ext uri="{28A0092B-C50C-407E-A947-70E740481C1C}">
                <a14:useLocalDpi xmlns:a14="http://schemas.microsoft.com/office/drawing/2010/main" val="0"/>
              </a:ext>
            </a:extLst>
          </a:blip>
          <a:srcRect l="2969" t="9870" r="2" b="8273"/>
          <a:stretch>
            <a:fillRect/>
          </a:stretch>
        </p:blipFill>
        <p:spPr>
          <a:xfrm>
            <a:off x="754375" y="433880"/>
            <a:ext cx="7875275" cy="3737155"/>
          </a:xfrm>
          <a:prstGeom prst="rect">
            <a:avLst/>
          </a:prstGeom>
        </p:spPr>
      </p:pic>
      <p:sp>
        <p:nvSpPr>
          <p:cNvPr id="5" name="TextBox 4">
            <a:extLst>
              <a:ext uri="{FF2B5EF4-FFF2-40B4-BE49-F238E27FC236}">
                <a16:creationId xmlns:a16="http://schemas.microsoft.com/office/drawing/2014/main" id="{8137CFDD-89FE-3F5F-2139-C091B4BB442B}"/>
              </a:ext>
            </a:extLst>
          </p:cNvPr>
          <p:cNvSpPr txBox="1"/>
          <p:nvPr/>
        </p:nvSpPr>
        <p:spPr>
          <a:xfrm>
            <a:off x="2278118" y="4263283"/>
            <a:ext cx="4587764" cy="341632"/>
          </a:xfrm>
          <a:prstGeom prst="rect">
            <a:avLst/>
          </a:prstGeom>
          <a:noFill/>
        </p:spPr>
        <p:txBody>
          <a:bodyPr wrap="square">
            <a:spAutoFit/>
          </a:bodyPr>
          <a:lstStyle/>
          <a:p>
            <a:pPr algn="ctr">
              <a:lnSpc>
                <a:spcPct val="90000"/>
              </a:lnSpc>
              <a:spcBef>
                <a:spcPct val="0"/>
              </a:spcBef>
              <a:spcAft>
                <a:spcPts val="600"/>
              </a:spcAft>
            </a:pPr>
            <a:r>
              <a:rPr lang="en-US" b="1" u="sng" dirty="0">
                <a:solidFill>
                  <a:schemeClr val="bg1"/>
                </a:solidFill>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Login Page</a:t>
            </a:r>
          </a:p>
        </p:txBody>
      </p:sp>
    </p:spTree>
    <p:extLst>
      <p:ext uri="{BB962C8B-B14F-4D97-AF65-F5344CB8AC3E}">
        <p14:creationId xmlns:p14="http://schemas.microsoft.com/office/powerpoint/2010/main" val="3882300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7635CB5-DF9B-6987-4158-D7C4E664B9BE}"/>
              </a:ext>
            </a:extLst>
          </p:cNvPr>
          <p:cNvPicPr>
            <a:picLocks noChangeAspect="1"/>
          </p:cNvPicPr>
          <p:nvPr/>
        </p:nvPicPr>
        <p:blipFill>
          <a:blip r:embed="rId2">
            <a:extLst>
              <a:ext uri="{28A0092B-C50C-407E-A947-70E740481C1C}">
                <a14:useLocalDpi xmlns:a14="http://schemas.microsoft.com/office/drawing/2010/main" val="0"/>
              </a:ext>
            </a:extLst>
          </a:blip>
          <a:srcRect l="-5" t="10599" r="1083" b="2931"/>
          <a:stretch>
            <a:fillRect/>
          </a:stretch>
        </p:blipFill>
        <p:spPr>
          <a:xfrm>
            <a:off x="557550" y="586585"/>
            <a:ext cx="8028899" cy="3737155"/>
          </a:xfrm>
          <a:prstGeom prst="rect">
            <a:avLst/>
          </a:prstGeom>
        </p:spPr>
      </p:pic>
      <p:sp>
        <p:nvSpPr>
          <p:cNvPr id="5" name="TextBox 4">
            <a:extLst>
              <a:ext uri="{FF2B5EF4-FFF2-40B4-BE49-F238E27FC236}">
                <a16:creationId xmlns:a16="http://schemas.microsoft.com/office/drawing/2014/main" id="{6738FAB8-366F-91EA-E4E7-145A23BBF4C6}"/>
              </a:ext>
            </a:extLst>
          </p:cNvPr>
          <p:cNvSpPr txBox="1"/>
          <p:nvPr/>
        </p:nvSpPr>
        <p:spPr>
          <a:xfrm>
            <a:off x="2278117" y="4323740"/>
            <a:ext cx="4587764" cy="341632"/>
          </a:xfrm>
          <a:prstGeom prst="rect">
            <a:avLst/>
          </a:prstGeom>
          <a:noFill/>
        </p:spPr>
        <p:txBody>
          <a:bodyPr wrap="square">
            <a:spAutoFit/>
          </a:bodyPr>
          <a:lstStyle/>
          <a:p>
            <a:pPr algn="ctr">
              <a:lnSpc>
                <a:spcPct val="90000"/>
              </a:lnSpc>
              <a:spcBef>
                <a:spcPct val="0"/>
              </a:spcBef>
              <a:spcAft>
                <a:spcPts val="600"/>
              </a:spcAft>
            </a:pPr>
            <a:r>
              <a:rPr lang="en-US" b="1" u="sng" dirty="0">
                <a:solidFill>
                  <a:schemeClr val="bg1"/>
                </a:solidFill>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Admin Page</a:t>
            </a:r>
          </a:p>
        </p:txBody>
      </p:sp>
    </p:spTree>
    <p:extLst>
      <p:ext uri="{BB962C8B-B14F-4D97-AF65-F5344CB8AC3E}">
        <p14:creationId xmlns:p14="http://schemas.microsoft.com/office/powerpoint/2010/main" val="3399881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B791416-B14B-2561-8E51-CDE1CFE7396E}"/>
              </a:ext>
            </a:extLst>
          </p:cNvPr>
          <p:cNvPicPr>
            <a:picLocks noChangeAspect="1"/>
          </p:cNvPicPr>
          <p:nvPr/>
        </p:nvPicPr>
        <p:blipFill>
          <a:blip r:embed="rId2">
            <a:extLst>
              <a:ext uri="{28A0092B-C50C-407E-A947-70E740481C1C}">
                <a14:useLocalDpi xmlns:a14="http://schemas.microsoft.com/office/drawing/2010/main" val="0"/>
              </a:ext>
            </a:extLst>
          </a:blip>
          <a:srcRect t="8737" r="2" b="4794"/>
          <a:stretch>
            <a:fillRect/>
          </a:stretch>
        </p:blipFill>
        <p:spPr>
          <a:xfrm>
            <a:off x="513890" y="433880"/>
            <a:ext cx="8116219" cy="3737155"/>
          </a:xfrm>
          <a:prstGeom prst="rect">
            <a:avLst/>
          </a:prstGeom>
        </p:spPr>
      </p:pic>
      <p:sp>
        <p:nvSpPr>
          <p:cNvPr id="5" name="TextBox 4">
            <a:extLst>
              <a:ext uri="{FF2B5EF4-FFF2-40B4-BE49-F238E27FC236}">
                <a16:creationId xmlns:a16="http://schemas.microsoft.com/office/drawing/2014/main" id="{27510273-2857-30CB-64C4-04737D9127EA}"/>
              </a:ext>
            </a:extLst>
          </p:cNvPr>
          <p:cNvSpPr txBox="1"/>
          <p:nvPr/>
        </p:nvSpPr>
        <p:spPr>
          <a:xfrm>
            <a:off x="2278117" y="4232233"/>
            <a:ext cx="4587764" cy="341632"/>
          </a:xfrm>
          <a:prstGeom prst="rect">
            <a:avLst/>
          </a:prstGeom>
          <a:noFill/>
        </p:spPr>
        <p:txBody>
          <a:bodyPr wrap="square">
            <a:spAutoFit/>
          </a:bodyPr>
          <a:lstStyle/>
          <a:p>
            <a:pPr algn="ctr">
              <a:lnSpc>
                <a:spcPct val="90000"/>
              </a:lnSpc>
              <a:spcBef>
                <a:spcPct val="0"/>
              </a:spcBef>
              <a:spcAft>
                <a:spcPts val="600"/>
              </a:spcAft>
            </a:pPr>
            <a:r>
              <a:rPr lang="en-US" b="1" u="sng" dirty="0">
                <a:solidFill>
                  <a:schemeClr val="bg1"/>
                </a:solidFill>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Hospital Dashboard</a:t>
            </a:r>
          </a:p>
        </p:txBody>
      </p:sp>
    </p:spTree>
    <p:extLst>
      <p:ext uri="{BB962C8B-B14F-4D97-AF65-F5344CB8AC3E}">
        <p14:creationId xmlns:p14="http://schemas.microsoft.com/office/powerpoint/2010/main" val="4263527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62ECECB-A841-1C01-2FEC-B7F1E84FD970}"/>
              </a:ext>
            </a:extLst>
          </p:cNvPr>
          <p:cNvPicPr>
            <a:picLocks noChangeAspect="1"/>
          </p:cNvPicPr>
          <p:nvPr/>
        </p:nvPicPr>
        <p:blipFill>
          <a:blip r:embed="rId2">
            <a:extLst>
              <a:ext uri="{28A0092B-C50C-407E-A947-70E740481C1C}">
                <a14:useLocalDpi xmlns:a14="http://schemas.microsoft.com/office/drawing/2010/main" val="0"/>
              </a:ext>
            </a:extLst>
          </a:blip>
          <a:srcRect t="8737" r="1078" b="4794"/>
          <a:stretch>
            <a:fillRect/>
          </a:stretch>
        </p:blipFill>
        <p:spPr>
          <a:xfrm>
            <a:off x="557550" y="433880"/>
            <a:ext cx="8028899" cy="3737155"/>
          </a:xfrm>
          <a:prstGeom prst="rect">
            <a:avLst/>
          </a:prstGeom>
        </p:spPr>
      </p:pic>
      <p:sp>
        <p:nvSpPr>
          <p:cNvPr id="5" name="TextBox 4">
            <a:extLst>
              <a:ext uri="{FF2B5EF4-FFF2-40B4-BE49-F238E27FC236}">
                <a16:creationId xmlns:a16="http://schemas.microsoft.com/office/drawing/2014/main" id="{5349EA3E-447C-FF2F-7F35-B787DA747897}"/>
              </a:ext>
            </a:extLst>
          </p:cNvPr>
          <p:cNvSpPr txBox="1"/>
          <p:nvPr/>
        </p:nvSpPr>
        <p:spPr>
          <a:xfrm>
            <a:off x="2281425" y="4208985"/>
            <a:ext cx="4587764" cy="341632"/>
          </a:xfrm>
          <a:prstGeom prst="rect">
            <a:avLst/>
          </a:prstGeom>
          <a:noFill/>
        </p:spPr>
        <p:txBody>
          <a:bodyPr wrap="square">
            <a:spAutoFit/>
          </a:bodyPr>
          <a:lstStyle/>
          <a:p>
            <a:pPr algn="ctr">
              <a:lnSpc>
                <a:spcPct val="90000"/>
              </a:lnSpc>
              <a:spcBef>
                <a:spcPct val="0"/>
              </a:spcBef>
              <a:spcAft>
                <a:spcPts val="600"/>
              </a:spcAft>
            </a:pPr>
            <a:r>
              <a:rPr lang="en-US" b="1" u="sng" dirty="0">
                <a:solidFill>
                  <a:schemeClr val="bg1"/>
                </a:solidFill>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Donor Dashboard</a:t>
            </a:r>
          </a:p>
        </p:txBody>
      </p:sp>
    </p:spTree>
    <p:extLst>
      <p:ext uri="{BB962C8B-B14F-4D97-AF65-F5344CB8AC3E}">
        <p14:creationId xmlns:p14="http://schemas.microsoft.com/office/powerpoint/2010/main" val="924911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093ECC-8BEB-4546-A80D-0B4887662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ECC8EE1-15C3-909F-6CB9-CC540E668860}"/>
              </a:ext>
            </a:extLst>
          </p:cNvPr>
          <p:cNvPicPr>
            <a:picLocks noChangeAspect="1"/>
          </p:cNvPicPr>
          <p:nvPr/>
        </p:nvPicPr>
        <p:blipFill>
          <a:blip r:embed="rId2">
            <a:extLst>
              <a:ext uri="{28A0092B-C50C-407E-A947-70E740481C1C}">
                <a14:useLocalDpi xmlns:a14="http://schemas.microsoft.com/office/drawing/2010/main" val="0"/>
              </a:ext>
            </a:extLst>
          </a:blip>
          <a:srcRect t="8737" r="1078" b="4794"/>
          <a:stretch>
            <a:fillRect/>
          </a:stretch>
        </p:blipFill>
        <p:spPr>
          <a:xfrm>
            <a:off x="557550" y="433880"/>
            <a:ext cx="8028899" cy="3737155"/>
          </a:xfrm>
          <a:prstGeom prst="rect">
            <a:avLst/>
          </a:prstGeom>
        </p:spPr>
      </p:pic>
      <p:sp>
        <p:nvSpPr>
          <p:cNvPr id="5" name="TextBox 4">
            <a:extLst>
              <a:ext uri="{FF2B5EF4-FFF2-40B4-BE49-F238E27FC236}">
                <a16:creationId xmlns:a16="http://schemas.microsoft.com/office/drawing/2014/main" id="{71E3F09A-7943-F947-2DBC-4245D6E75F13}"/>
              </a:ext>
            </a:extLst>
          </p:cNvPr>
          <p:cNvSpPr txBox="1"/>
          <p:nvPr/>
        </p:nvSpPr>
        <p:spPr>
          <a:xfrm>
            <a:off x="2434130" y="4263283"/>
            <a:ext cx="4587498" cy="341632"/>
          </a:xfrm>
          <a:prstGeom prst="rect">
            <a:avLst/>
          </a:prstGeom>
          <a:noFill/>
        </p:spPr>
        <p:txBody>
          <a:bodyPr wrap="square">
            <a:spAutoFit/>
          </a:bodyPr>
          <a:lstStyle/>
          <a:p>
            <a:pPr algn="ctr">
              <a:lnSpc>
                <a:spcPct val="90000"/>
              </a:lnSpc>
              <a:spcBef>
                <a:spcPct val="0"/>
              </a:spcBef>
              <a:spcAft>
                <a:spcPts val="600"/>
              </a:spcAft>
            </a:pPr>
            <a:r>
              <a:rPr lang="en-US" b="1" u="sng" dirty="0">
                <a:solidFill>
                  <a:schemeClr val="bg1"/>
                </a:solidFill>
                <a:effectLst>
                  <a:glow rad="139700">
                    <a:schemeClr val="accent5">
                      <a:satMod val="175000"/>
                      <a:alpha val="40000"/>
                    </a:schemeClr>
                  </a:glow>
                </a:effectLst>
                <a:latin typeface="Times New Roman" panose="02020603050405020304" pitchFamily="18" charset="0"/>
                <a:ea typeface="+mj-ea"/>
                <a:cs typeface="Times New Roman" panose="02020603050405020304" pitchFamily="18" charset="0"/>
              </a:rPr>
              <a:t>Hospital Request Dashboard</a:t>
            </a:r>
          </a:p>
        </p:txBody>
      </p:sp>
    </p:spTree>
    <p:extLst>
      <p:ext uri="{BB962C8B-B14F-4D97-AF65-F5344CB8AC3E}">
        <p14:creationId xmlns:p14="http://schemas.microsoft.com/office/powerpoint/2010/main" val="1137509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D6DEFB-EF97-4522-2B5E-3B84D89496BB}"/>
              </a:ext>
            </a:extLst>
          </p:cNvPr>
          <p:cNvSpPr txBox="1"/>
          <p:nvPr/>
        </p:nvSpPr>
        <p:spPr>
          <a:xfrm>
            <a:off x="601670" y="739290"/>
            <a:ext cx="4587498" cy="307777"/>
          </a:xfrm>
          <a:prstGeom prst="rect">
            <a:avLst/>
          </a:prstGeom>
          <a:noFill/>
        </p:spPr>
        <p:txBody>
          <a:bodyPr wrap="square">
            <a:spAutoFit/>
          </a:bodyPr>
          <a:lstStyle/>
          <a:p>
            <a:r>
              <a:rPr lang="en-IN" sz="1400" b="1" dirty="0">
                <a:solidFill>
                  <a:schemeClr val="bg1"/>
                </a:solidFill>
                <a:effectLst>
                  <a:glow rad="139700">
                    <a:schemeClr val="accent5">
                      <a:satMod val="175000"/>
                      <a:alpha val="40000"/>
                    </a:schemeClr>
                  </a:glow>
                </a:effectLst>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5CF642FE-0454-60CE-21E6-2668F796DF41}"/>
              </a:ext>
            </a:extLst>
          </p:cNvPr>
          <p:cNvSpPr txBox="1"/>
          <p:nvPr/>
        </p:nvSpPr>
        <p:spPr>
          <a:xfrm>
            <a:off x="1059784" y="1044700"/>
            <a:ext cx="6260905" cy="1569660"/>
          </a:xfrm>
          <a:prstGeom prst="rect">
            <a:avLst/>
          </a:prstGeom>
          <a:noFill/>
        </p:spPr>
        <p:txBody>
          <a:bodyPr wrap="square">
            <a:spAutoFit/>
          </a:bodyPr>
          <a:lstStyle/>
          <a:p>
            <a:pPr algn="just"/>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The </a:t>
            </a:r>
            <a:r>
              <a:rPr lang="en-IN" sz="1200" b="1"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Organ Donation &amp; Hospital Coordination Web Platform</a:t>
            </a: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 is a secure and efficient web-based solution designed to improve communication and coordination among donors, patients, and hospitals. By providing a centralized platform for organ requests, donor management, real-time tracking, and emergency notifications, the system helps reduce delays and improve transparency in the organ donation process. The use of modern full-stack technologies ensures scalability, reliability, and data security. Overall, this platform has the potential to enhance organ donation management, minimize organ wastage, and contribute to saving more lives through effective digital healthcare coordination.</a:t>
            </a:r>
          </a:p>
        </p:txBody>
      </p:sp>
    </p:spTree>
    <p:extLst>
      <p:ext uri="{BB962C8B-B14F-4D97-AF65-F5344CB8AC3E}">
        <p14:creationId xmlns:p14="http://schemas.microsoft.com/office/powerpoint/2010/main" val="20550686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E8904C-C1B1-D05C-C04F-461247E0DB76}"/>
              </a:ext>
            </a:extLst>
          </p:cNvPr>
          <p:cNvSpPr txBox="1"/>
          <p:nvPr/>
        </p:nvSpPr>
        <p:spPr>
          <a:xfrm>
            <a:off x="601670" y="433880"/>
            <a:ext cx="4587498" cy="307777"/>
          </a:xfrm>
          <a:prstGeom prst="rect">
            <a:avLst/>
          </a:prstGeom>
          <a:noFill/>
        </p:spPr>
        <p:txBody>
          <a:bodyPr wrap="square">
            <a:spAutoFit/>
          </a:bodyPr>
          <a:lstStyle/>
          <a:p>
            <a:r>
              <a:rPr lang="en-IN" sz="1400" b="1" dirty="0">
                <a:solidFill>
                  <a:schemeClr val="bg1"/>
                </a:solidFill>
                <a:effectLst>
                  <a:glow rad="139700">
                    <a:schemeClr val="accent5">
                      <a:satMod val="175000"/>
                      <a:alpha val="40000"/>
                    </a:schemeClr>
                  </a:glow>
                </a:effectLst>
                <a:latin typeface="Times New Roman" panose="02020603050405020304" pitchFamily="18" charset="0"/>
                <a:cs typeface="Times New Roman" panose="02020603050405020304" pitchFamily="18" charset="0"/>
              </a:rPr>
              <a:t>References:</a:t>
            </a:r>
          </a:p>
        </p:txBody>
      </p:sp>
      <p:sp>
        <p:nvSpPr>
          <p:cNvPr id="5" name="TextBox 4">
            <a:extLst>
              <a:ext uri="{FF2B5EF4-FFF2-40B4-BE49-F238E27FC236}">
                <a16:creationId xmlns:a16="http://schemas.microsoft.com/office/drawing/2014/main" id="{80493841-912D-8BF2-1195-B50CBE95C472}"/>
              </a:ext>
            </a:extLst>
          </p:cNvPr>
          <p:cNvSpPr txBox="1"/>
          <p:nvPr/>
        </p:nvSpPr>
        <p:spPr>
          <a:xfrm>
            <a:off x="907080" y="739290"/>
            <a:ext cx="6719020" cy="3046988"/>
          </a:xfrm>
          <a:prstGeom prst="rect">
            <a:avLst/>
          </a:prstGeom>
          <a:noFill/>
        </p:spPr>
        <p:txBody>
          <a:bodyPr wrap="square">
            <a:spAutoFit/>
          </a:bodyPr>
          <a:lstStyle/>
          <a:p>
            <a:pPr marL="228600" indent="-228600" algn="just">
              <a:buAutoNum type="arabicParenR"/>
            </a:pP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G. </a:t>
            </a:r>
            <a:r>
              <a:rPr lang="en-IN" sz="1200" dirty="0" err="1">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Muddu</a:t>
            </a: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 Krishna; S. Nagaraju (2016), “Design and implementation of short message service (SMS) based organ donation bank”, 2016 International Conference on Inventive Computation Technologies (ICICT). </a:t>
            </a:r>
          </a:p>
          <a:p>
            <a:pPr marL="228600" indent="-228600" algn="just">
              <a:buAutoNum type="arabicParenR"/>
            </a:pPr>
            <a:endPar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endParaRPr>
          </a:p>
          <a:p>
            <a:pPr marL="228600" indent="-228600" algn="just">
              <a:buAutoNum type="arabicParenR"/>
            </a:pP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Vikas Kulshreshtha, Dr. Sharad Maheshwari, “Benefits of organ donation bank administration system”, Singhania University, Jhunjhunu, Rajasthan, India and Government Engineering College Jhalawar, Rajasthan, India. </a:t>
            </a:r>
          </a:p>
          <a:p>
            <a:pPr marL="228600" indent="-228600" algn="just">
              <a:buAutoNum type="arabicParenR"/>
            </a:pPr>
            <a:endPar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endParaRPr>
          </a:p>
          <a:p>
            <a:pPr marL="228600" indent="-228600" algn="just">
              <a:buAutoNum type="arabicParenR"/>
            </a:pPr>
            <a:r>
              <a:rPr lang="en-IN" sz="1200" dirty="0" err="1">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Alfouzan</a:t>
            </a: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 N., “Knowledge, attitudes, and motivations towards organ donation among King Abdulaziz Medical City”, </a:t>
            </a:r>
            <a:r>
              <a:rPr lang="en-IN" sz="1200" dirty="0" err="1">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Population.International</a:t>
            </a: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 journal of family medicine, vol. 2014. </a:t>
            </a:r>
          </a:p>
          <a:p>
            <a:pPr marL="228600" indent="-228600" algn="just">
              <a:buAutoNum type="arabicParenR"/>
            </a:pPr>
            <a:endPar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endParaRPr>
          </a:p>
          <a:p>
            <a:pPr marL="228600" indent="-228600" algn="just">
              <a:buAutoNum type="arabicParenR"/>
            </a:pP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Arif, M., </a:t>
            </a:r>
            <a:r>
              <a:rPr lang="en-IN" sz="1200" dirty="0" err="1">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Nafseer</a:t>
            </a: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 S., K., Rahul, R., “Automated online Organ Donation bank database”, Proceedings of the India Conference (INDICON), India, 2012. </a:t>
            </a:r>
          </a:p>
          <a:p>
            <a:pPr marL="228600" indent="-228600" algn="just">
              <a:buAutoNum type="arabicParenR"/>
            </a:pPr>
            <a:endPar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endParaRPr>
          </a:p>
          <a:p>
            <a:pPr marL="228600" indent="-228600" algn="just">
              <a:buAutoNum type="arabicParenR"/>
            </a:pPr>
            <a:r>
              <a:rPr lang="en-IN" sz="1200" dirty="0">
                <a:solidFill>
                  <a:schemeClr val="bg1"/>
                </a:solidFill>
                <a:effectLst>
                  <a:glow rad="228600">
                    <a:schemeClr val="accent2">
                      <a:satMod val="175000"/>
                      <a:alpha val="40000"/>
                    </a:schemeClr>
                  </a:glow>
                </a:effectLst>
                <a:latin typeface="Times New Roman" panose="02020603050405020304" pitchFamily="18" charset="0"/>
                <a:cs typeface="Times New Roman" panose="02020603050405020304" pitchFamily="18" charset="0"/>
              </a:rPr>
              <a:t>Organ, G., “How your body replaces organ ”International Research Journal Of Modernization In Engineering Technology And Science 2018.</a:t>
            </a:r>
          </a:p>
        </p:txBody>
      </p:sp>
    </p:spTree>
    <p:extLst>
      <p:ext uri="{BB962C8B-B14F-4D97-AF65-F5344CB8AC3E}">
        <p14:creationId xmlns:p14="http://schemas.microsoft.com/office/powerpoint/2010/main" val="1335269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5BC05F-D04B-CDDF-8263-9B885CAD2DD4}"/>
              </a:ext>
            </a:extLst>
          </p:cNvPr>
          <p:cNvSpPr txBox="1"/>
          <p:nvPr/>
        </p:nvSpPr>
        <p:spPr>
          <a:xfrm>
            <a:off x="1976015" y="1740753"/>
            <a:ext cx="5191970" cy="830997"/>
          </a:xfrm>
          <a:prstGeom prst="rect">
            <a:avLst/>
          </a:prstGeom>
          <a:noFill/>
        </p:spPr>
        <p:txBody>
          <a:bodyPr wrap="square" rtlCol="0">
            <a:spAutoFit/>
          </a:bodyPr>
          <a:lstStyle/>
          <a:p>
            <a:pPr algn="ctr"/>
            <a:r>
              <a:rPr lang="en-US" sz="4800" b="1" dirty="0">
                <a:ln w="12700">
                  <a:solidFill>
                    <a:schemeClr val="accent5"/>
                  </a:solidFill>
                  <a:prstDash val="solid"/>
                </a:ln>
                <a:pattFill prst="ltDnDiag">
                  <a:fgClr>
                    <a:schemeClr val="accent5">
                      <a:lumMod val="60000"/>
                      <a:lumOff val="40000"/>
                    </a:schemeClr>
                  </a:fgClr>
                  <a:bgClr>
                    <a:schemeClr val="bg1"/>
                  </a:bgClr>
                </a:pattFill>
                <a:effectLst>
                  <a:glow rad="228600">
                    <a:schemeClr val="accent5">
                      <a:satMod val="175000"/>
                      <a:alpha val="40000"/>
                    </a:schemeClr>
                  </a:glow>
                  <a:reflection blurRad="6350" stA="50000" endA="300" endPos="50000" dist="29997" dir="5400000" sy="-100000" algn="bl" rotWithShape="0"/>
                </a:effectLst>
                <a:latin typeface="Algerian" panose="04020705040A02060702" pitchFamily="82" charset="0"/>
              </a:rPr>
              <a:t>THANK YOU…</a:t>
            </a:r>
            <a:endParaRPr lang="en-IN" sz="4800" b="1" dirty="0">
              <a:ln w="12700">
                <a:solidFill>
                  <a:schemeClr val="accent5"/>
                </a:solidFill>
                <a:prstDash val="solid"/>
              </a:ln>
              <a:pattFill prst="ltDnDiag">
                <a:fgClr>
                  <a:schemeClr val="accent5">
                    <a:lumMod val="60000"/>
                    <a:lumOff val="40000"/>
                  </a:schemeClr>
                </a:fgClr>
                <a:bgClr>
                  <a:schemeClr val="bg1"/>
                </a:bgClr>
              </a:pattFill>
              <a:effectLst>
                <a:glow rad="228600">
                  <a:schemeClr val="accent5">
                    <a:satMod val="175000"/>
                    <a:alpha val="40000"/>
                  </a:schemeClr>
                </a:glow>
                <a:reflection blurRad="6350" stA="50000" endA="300" endPos="50000" dist="29997" dir="5400000" sy="-100000" algn="bl" rotWithShape="0"/>
              </a:effectLst>
              <a:latin typeface="Algerian" panose="04020705040A02060702" pitchFamily="82" charset="0"/>
            </a:endParaRPr>
          </a:p>
        </p:txBody>
      </p:sp>
    </p:spTree>
    <p:extLst>
      <p:ext uri="{BB962C8B-B14F-4D97-AF65-F5344CB8AC3E}">
        <p14:creationId xmlns:p14="http://schemas.microsoft.com/office/powerpoint/2010/main" val="6700159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TM02900743[[fn=Organic]]</Template>
  <TotalTime>773</TotalTime>
  <Words>2106</Words>
  <Application>Microsoft Office PowerPoint</Application>
  <PresentationFormat>On-screen Show (16:9)</PresentationFormat>
  <Paragraphs>262</Paragraphs>
  <Slides>36</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36</vt:i4>
      </vt:variant>
    </vt:vector>
  </HeadingPairs>
  <TitlesOfParts>
    <vt:vector size="49" baseType="lpstr">
      <vt:lpstr>Algerian</vt:lpstr>
      <vt:lpstr>Arial</vt:lpstr>
      <vt:lpstr>Bookman Old Style</vt:lpstr>
      <vt:lpstr>Calibri</vt:lpstr>
      <vt:lpstr>Century Gothic</vt:lpstr>
      <vt:lpstr>Magneto</vt:lpstr>
      <vt:lpstr>Symbol</vt:lpstr>
      <vt:lpstr>Times New Roman</vt:lpstr>
      <vt:lpstr>Wide Latin</vt:lpstr>
      <vt:lpstr>Wingdings</vt:lpstr>
      <vt:lpstr>Wingdings 3</vt:lpstr>
      <vt:lpstr>Office Theme</vt:lpstr>
      <vt:lpstr>Slice</vt:lpstr>
      <vt:lpstr>PowerPoint Presentation</vt:lpstr>
      <vt:lpstr>Organ Donation  &amp;  Hospital Coordination  Web Platform</vt:lpstr>
      <vt:lpstr>PowerPoint Presentation</vt:lpstr>
      <vt:lpstr>Abstract:</vt:lpstr>
      <vt:lpstr>Existing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Seran M</cp:lastModifiedBy>
  <cp:revision>8</cp:revision>
  <dcterms:created xsi:type="dcterms:W3CDTF">2017-07-10T14:05:18Z</dcterms:created>
  <dcterms:modified xsi:type="dcterms:W3CDTF">2026-06-11T19:03:07Z</dcterms:modified>
</cp:coreProperties>
</file>